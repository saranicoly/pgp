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  <p:embeddedFont>
      <p:font typeface="Roboto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RobotoMono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7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19" Type="http://schemas.openxmlformats.org/officeDocument/2006/relationships/font" Target="fonts/Raleway-boldItalic.fntdata"/><Relationship Id="rId1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bc86ad1dc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bc86ad1dc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bc86ad1dc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bc86ad1dc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bc86ad1dc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bc86ad1dc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bc86ad1dc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bc86ad1dc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bc86ad1dc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bc86ad1dc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bc86ad1dc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bc86ad1dc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bc86ad1dc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bc86ad1dc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bc86ad1dc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bc86ad1dc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bc86ad1dc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bc86ad1dc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tabula.technology/" TargetMode="External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openrefine.org/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gov.br/patrimonio/pt-br/siads/manuais/GuiadeOrientaesGeraisparaGeracaodosArquivosdeImplantacaov6211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Migra</a:t>
            </a:r>
            <a:r>
              <a:rPr lang="pt-BR"/>
              <a:t>ção para o SIADS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Padroniza</a:t>
            </a:r>
            <a:r>
              <a:rPr lang="pt-BR"/>
              <a:t>ção dos dados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2625" y="692475"/>
            <a:ext cx="5734050" cy="38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Entidade Resolution</a:t>
            </a:r>
            <a:endParaRPr/>
          </a:p>
        </p:txBody>
      </p:sp>
      <p:sp>
        <p:nvSpPr>
          <p:cNvPr id="98" name="Google Shape;98;p1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Padronização dos dados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194775" y="1314875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Fase 1: Extra</a:t>
            </a:r>
            <a:r>
              <a:rPr lang="pt-BR"/>
              <a:t>ção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186000" y="2027900"/>
            <a:ext cx="33009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https://tabula.technology/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800"/>
              <a:t>É uma ferramenta open-source para transformar pdf em csv</a:t>
            </a:r>
            <a:endParaRPr sz="1800"/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8775" y="533550"/>
            <a:ext cx="9909250" cy="432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Fase 2: Limpeza e Agrupamento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https://openrefine.org/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É open-source e roda localmente, garantindo privacidade. Faz clustering dos dados.</a:t>
            </a:r>
            <a:endParaRPr/>
          </a:p>
        </p:txBody>
      </p:sp>
      <p:pic>
        <p:nvPicPr>
          <p:cNvPr id="112" name="Google Shape;11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3300" y="1489700"/>
            <a:ext cx="4808301" cy="2725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Fase 3: Padroniza</a:t>
            </a:r>
            <a:r>
              <a:rPr lang="pt-BR"/>
              <a:t>ção Semântica</a:t>
            </a:r>
            <a:endParaRPr/>
          </a:p>
        </p:txBody>
      </p:sp>
      <p:sp>
        <p:nvSpPr>
          <p:cNvPr id="118" name="Google Shape;118;p18"/>
          <p:cNvSpPr txBox="1"/>
          <p:nvPr>
            <p:ph idx="2" type="body"/>
          </p:nvPr>
        </p:nvSpPr>
        <p:spPr>
          <a:xfrm>
            <a:off x="4847750" y="430800"/>
            <a:ext cx="4153500" cy="4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65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3"/>
              <a:buChar char="●"/>
            </a:pPr>
            <a:r>
              <a:rPr lang="pt-BR" sz="1402"/>
              <a:t>Extrair apenas a lista de descrições únicas</a:t>
            </a:r>
            <a:endParaRPr sz="1402"/>
          </a:p>
          <a:p>
            <a:pPr indent="-31765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3"/>
              <a:buChar char="●"/>
            </a:pPr>
            <a:r>
              <a:rPr lang="pt-BR" sz="1402"/>
              <a:t>Passar essa lista para o </a:t>
            </a:r>
            <a:r>
              <a:rPr b="1" lang="pt-BR" sz="1402"/>
              <a:t>LM Studio </a:t>
            </a:r>
            <a:r>
              <a:rPr lang="pt-BR" sz="1402"/>
              <a:t>com o seguinte prompt:</a:t>
            </a:r>
            <a:endParaRPr sz="140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pt-BR" sz="1402"/>
              <a:t>"Tenho uma lista de descrições de patrimônio (Coluna A). Preciso que você gere uma Coluna B com o 'Nome Padronizado'.</a:t>
            </a:r>
            <a:endParaRPr sz="140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pt-BR" sz="1402"/>
              <a:t>Regras de Ouro:</a:t>
            </a:r>
            <a:endParaRPr sz="1402"/>
          </a:p>
          <a:p>
            <a:pPr indent="-317658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3"/>
              <a:buAutoNum type="arabicPeriod"/>
            </a:pPr>
            <a:r>
              <a:rPr lang="pt-BR" sz="1402"/>
              <a:t>CORRIGIR: Erros de português, abreviações ('Cad.' -&gt; 'Cadeira') e formatação.</a:t>
            </a:r>
            <a:endParaRPr sz="1402"/>
          </a:p>
          <a:p>
            <a:pPr indent="-31765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3"/>
              <a:buAutoNum type="arabicPeriod"/>
            </a:pPr>
            <a:r>
              <a:rPr lang="pt-BR" sz="1402"/>
              <a:t>MANTER: A especificidade do item. 'Cadeira de Escritório' é diferente de 'Cadeira Escolar'. Mantenha essa diferença. Não generalize para apenas 'Cadeira'.</a:t>
            </a:r>
            <a:endParaRPr sz="1402"/>
          </a:p>
          <a:p>
            <a:pPr indent="-31765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3"/>
              <a:buAutoNum type="arabicPeriod"/>
            </a:pPr>
            <a:r>
              <a:rPr lang="pt-BR" sz="1402"/>
              <a:t>FORMATO: Me entregue APENAS uma tabela CSV com duas colunas: original; padronizado.</a:t>
            </a:r>
            <a:endParaRPr sz="140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pt-BR" sz="1402"/>
              <a:t>Lista: [Cole sua lista de únicos aqui]"</a:t>
            </a:r>
            <a:endParaRPr sz="140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402"/>
          </a:p>
        </p:txBody>
      </p:sp>
      <p:sp>
        <p:nvSpPr>
          <p:cNvPr id="119" name="Google Shape;119;p18"/>
          <p:cNvSpPr txBox="1"/>
          <p:nvPr>
            <p:ph idx="1" type="subTitle"/>
          </p:nvPr>
        </p:nvSpPr>
        <p:spPr>
          <a:xfrm>
            <a:off x="724950" y="2816075"/>
            <a:ext cx="33009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Usar o </a:t>
            </a:r>
            <a:r>
              <a:rPr b="1" lang="pt-BR"/>
              <a:t>LM Studio</a:t>
            </a:r>
            <a:r>
              <a:rPr lang="pt-BR"/>
              <a:t> para padronizar os dados restantes.</a:t>
            </a:r>
            <a:endParaRPr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Fase 4: Cruzamento dos dados</a:t>
            </a:r>
            <a:endParaRPr/>
          </a:p>
        </p:txBody>
      </p:sp>
      <p:sp>
        <p:nvSpPr>
          <p:cNvPr id="125" name="Google Shape;125;p19"/>
          <p:cNvSpPr txBox="1"/>
          <p:nvPr>
            <p:ph idx="1" type="subTitle"/>
          </p:nvPr>
        </p:nvSpPr>
        <p:spPr>
          <a:xfrm>
            <a:off x="724950" y="2726050"/>
            <a:ext cx="3300900" cy="19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Pegue a saída da LLM (uma tabela com "Nome Antigo" -&gt; "Nome Padronizado").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Volte para sua planilha original.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Faça um </a:t>
            </a:r>
            <a:r>
              <a:rPr lang="pt-BR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PROCV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(Excel) ou </a:t>
            </a:r>
            <a:r>
              <a:rPr lang="pt-BR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Join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(OpenRefine/Python) para aplicar o nome padronizado a todos os milhares de itens.</a:t>
            </a:r>
            <a:endParaRPr sz="1900"/>
          </a:p>
        </p:txBody>
      </p:sp>
      <p:pic>
        <p:nvPicPr>
          <p:cNvPr id="126" name="Google Shape;12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3450" y="1812443"/>
            <a:ext cx="4330649" cy="153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Resumo da Solu</a:t>
            </a:r>
            <a:r>
              <a:rPr lang="pt-BR"/>
              <a:t>ção</a:t>
            </a:r>
            <a:endParaRPr/>
          </a:p>
        </p:txBody>
      </p:sp>
      <p:sp>
        <p:nvSpPr>
          <p:cNvPr id="132" name="Google Shape;132;p20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0"/>
          <p:cNvSpPr txBox="1"/>
          <p:nvPr>
            <p:ph idx="2" type="body"/>
          </p:nvPr>
        </p:nvSpPr>
        <p:spPr>
          <a:xfrm>
            <a:off x="5174225" y="540075"/>
            <a:ext cx="3374400" cy="38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pt-BR" sz="1600"/>
              <a:t>PDF </a:t>
            </a:r>
            <a:r>
              <a:rPr lang="pt-BR" sz="1600"/>
              <a:t>-&gt;</a:t>
            </a:r>
            <a:r>
              <a:rPr b="1" lang="pt-BR" sz="1600"/>
              <a:t> Tabula </a:t>
            </a:r>
            <a:r>
              <a:rPr lang="pt-BR" sz="1600"/>
              <a:t>-&gt;</a:t>
            </a:r>
            <a:r>
              <a:rPr b="1" lang="pt-BR" sz="1600"/>
              <a:t> CSV Bruto.</a:t>
            </a:r>
            <a:br>
              <a:rPr b="1" lang="pt-BR" sz="1600"/>
            </a:b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pt-BR" sz="1600"/>
              <a:t>CSV Bruto </a:t>
            </a:r>
            <a:r>
              <a:rPr lang="pt-BR" sz="1600"/>
              <a:t>-&gt;</a:t>
            </a:r>
            <a:r>
              <a:rPr b="1" lang="pt-BR" sz="1600"/>
              <a:t> OpenRefine </a:t>
            </a:r>
            <a:r>
              <a:rPr lang="pt-BR" sz="1600"/>
              <a:t>(Limpeza de erros de digitação e abreviações).</a:t>
            </a:r>
            <a:br>
              <a:rPr lang="pt-BR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pt-BR" sz="1600"/>
              <a:t>Lista de Itens Únicos </a:t>
            </a:r>
            <a:r>
              <a:rPr lang="pt-BR" sz="1600"/>
              <a:t>-&gt;</a:t>
            </a:r>
            <a:r>
              <a:rPr b="1" lang="pt-BR" sz="1600"/>
              <a:t> LLM </a:t>
            </a:r>
            <a:r>
              <a:rPr lang="pt-BR" sz="1600"/>
              <a:t>(Classificação Semântica).</a:t>
            </a:r>
            <a:br>
              <a:rPr lang="pt-BR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pt-BR" sz="1600"/>
              <a:t>CSV Limpo </a:t>
            </a:r>
            <a:r>
              <a:rPr lang="pt-BR" sz="1600"/>
              <a:t>+</a:t>
            </a:r>
            <a:r>
              <a:rPr b="1" lang="pt-BR" sz="1600"/>
              <a:t> Classificação da LLM </a:t>
            </a:r>
            <a:r>
              <a:rPr lang="pt-BR" sz="1600"/>
              <a:t>-&gt;</a:t>
            </a:r>
            <a:r>
              <a:rPr b="1" lang="pt-BR" sz="1600"/>
              <a:t> Planilha Final de Importação.</a:t>
            </a:r>
            <a:endParaRPr b="1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Migra</a:t>
            </a:r>
            <a:r>
              <a:rPr lang="pt-BR"/>
              <a:t>ção dos dados</a:t>
            </a:r>
            <a:endParaRPr/>
          </a:p>
        </p:txBody>
      </p:sp>
      <p:sp>
        <p:nvSpPr>
          <p:cNvPr id="139" name="Google Shape;139;p21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idx="1" type="subTitle"/>
          </p:nvPr>
        </p:nvSpPr>
        <p:spPr>
          <a:xfrm>
            <a:off x="724950" y="1427325"/>
            <a:ext cx="3300900" cy="24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</a:t>
            </a:r>
            <a:r>
              <a:rPr lang="pt-BR"/>
              <a:t>ódigo em Python seguindo o guia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Guia de Orientações para Geração dos Arquivos para implantação do SIADS</a:t>
            </a:r>
            <a:r>
              <a:rPr lang="pt-BR"/>
              <a:t> </a:t>
            </a:r>
            <a:endParaRPr/>
          </a:p>
        </p:txBody>
      </p:sp>
      <p:sp>
        <p:nvSpPr>
          <p:cNvPr id="145" name="Google Shape;145;p22"/>
          <p:cNvSpPr txBox="1"/>
          <p:nvPr>
            <p:ph idx="2" type="body"/>
          </p:nvPr>
        </p:nvSpPr>
        <p:spPr>
          <a:xfrm>
            <a:off x="5354250" y="1969850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500"/>
              <a:t>Python + Pandas</a:t>
            </a:r>
            <a:endParaRPr sz="2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