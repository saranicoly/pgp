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DzkkxVIB5xFfJ+rJbxFZ4E770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cd5ca5c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acd5ca5c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cd5ca5c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acd5ca5c2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cd5ca5c2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acd5ca5c2c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cd5ca5c2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acd5ca5c2c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cd5ca5c2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acd5ca5c2c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cd5ca5c2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acd5ca5c2c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cd5ca5c2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acd5ca5c2c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064e7839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a064e7839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069862c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a069862c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3.png"/><Relationship Id="rId11" Type="http://schemas.openxmlformats.org/officeDocument/2006/relationships/image" Target="../media/image16.png"/><Relationship Id="rId10" Type="http://schemas.openxmlformats.org/officeDocument/2006/relationships/image" Target="../media/image6.png"/><Relationship Id="rId12" Type="http://schemas.openxmlformats.org/officeDocument/2006/relationships/image" Target="../media/image17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hyperlink" Target="https://tabula.technology/" TargetMode="External"/><Relationship Id="rId6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hyperlink" Target="https://openrefine.org/" TargetMode="External"/><Relationship Id="rId6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hyperlink" Target="https://www.gov.br/patrimonio/pt-br/siads/manuais/GuiadeOrientaesGeraisparaGeracaodosArquivosdeImplantacaov6211.pdf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5.jpg"/><Relationship Id="rId9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7.jpg"/><Relationship Id="rId5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5400000">
            <a:off x="15746432" y="-2719091"/>
            <a:ext cx="5083136" cy="10166272"/>
          </a:xfrm>
          <a:custGeom>
            <a:rect b="b" l="l" r="r" t="t"/>
            <a:pathLst>
              <a:path extrusionOk="0" h="10166272" w="5083136">
                <a:moveTo>
                  <a:pt x="0" y="0"/>
                </a:moveTo>
                <a:lnTo>
                  <a:pt x="5083136" y="0"/>
                </a:lnTo>
                <a:lnTo>
                  <a:pt x="5083136" y="10166272"/>
                </a:lnTo>
                <a:lnTo>
                  <a:pt x="0" y="10166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8472858">
            <a:off x="459533" y="6400181"/>
            <a:ext cx="2970557" cy="5941114"/>
          </a:xfrm>
          <a:custGeom>
            <a:rect b="b" l="l" r="r" t="t"/>
            <a:pathLst>
              <a:path extrusionOk="0" h="5941114" w="2970557">
                <a:moveTo>
                  <a:pt x="0" y="0"/>
                </a:moveTo>
                <a:lnTo>
                  <a:pt x="2970557" y="0"/>
                </a:lnTo>
                <a:lnTo>
                  <a:pt x="2970557" y="5941114"/>
                </a:lnTo>
                <a:lnTo>
                  <a:pt x="0" y="594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rot="6303208">
            <a:off x="12597750" y="672455"/>
            <a:ext cx="712491" cy="712491"/>
          </a:xfrm>
          <a:custGeom>
            <a:rect b="b" l="l" r="r" t="t"/>
            <a:pathLst>
              <a:path extrusionOk="0" h="712491" w="712491">
                <a:moveTo>
                  <a:pt x="0" y="0"/>
                </a:moveTo>
                <a:lnTo>
                  <a:pt x="712491" y="0"/>
                </a:lnTo>
                <a:lnTo>
                  <a:pt x="712491" y="712490"/>
                </a:lnTo>
                <a:lnTo>
                  <a:pt x="0" y="712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1773029" y="7743322"/>
            <a:ext cx="2063201" cy="1773330"/>
          </a:xfrm>
          <a:custGeom>
            <a:rect b="b" l="l" r="r" t="t"/>
            <a:pathLst>
              <a:path extrusionOk="0" h="1773330" w="2063201">
                <a:moveTo>
                  <a:pt x="0" y="0"/>
                </a:moveTo>
                <a:lnTo>
                  <a:pt x="2063201" y="0"/>
                </a:lnTo>
                <a:lnTo>
                  <a:pt x="2063201" y="1773329"/>
                </a:lnTo>
                <a:lnTo>
                  <a:pt x="0" y="1773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51770" y="7539424"/>
            <a:ext cx="7321259" cy="2181125"/>
          </a:xfrm>
          <a:custGeom>
            <a:rect b="b" l="l" r="r" t="t"/>
            <a:pathLst>
              <a:path extrusionOk="0" h="2181125" w="7321259">
                <a:moveTo>
                  <a:pt x="0" y="0"/>
                </a:moveTo>
                <a:lnTo>
                  <a:pt x="7321259" y="0"/>
                </a:lnTo>
                <a:lnTo>
                  <a:pt x="7321259" y="2181125"/>
                </a:lnTo>
                <a:lnTo>
                  <a:pt x="0" y="218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3028400" y="3505384"/>
            <a:ext cx="12231199" cy="241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PADRONIZAÇÃO E MIGRAÇÃO DO INVENTÁRIO PATRIMONIAL DO IFPE PARA O SISTEMA SIADS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28700" y="1030270"/>
            <a:ext cx="3761341" cy="75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STATUS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EQUIPE 6 - PGP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 flipH="1">
            <a:off x="-2049990" y="0"/>
            <a:ext cx="2089404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 rot="-5400000">
            <a:off x="13060513" y="6885324"/>
            <a:ext cx="2930312" cy="2530724"/>
          </a:xfrm>
          <a:custGeom>
            <a:rect b="b" l="l" r="r" t="t"/>
            <a:pathLst>
              <a:path extrusionOk="0" h="2530724" w="2930312">
                <a:moveTo>
                  <a:pt x="0" y="0"/>
                </a:moveTo>
                <a:lnTo>
                  <a:pt x="2930312" y="0"/>
                </a:lnTo>
                <a:lnTo>
                  <a:pt x="2930312" y="2530724"/>
                </a:lnTo>
                <a:lnTo>
                  <a:pt x="0" y="2530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3768975" y="7321638"/>
            <a:ext cx="1513389" cy="1658096"/>
          </a:xfrm>
          <a:custGeom>
            <a:rect b="b" l="l" r="r" t="t"/>
            <a:pathLst>
              <a:path extrusionOk="0" h="1658096" w="1513389">
                <a:moveTo>
                  <a:pt x="0" y="0"/>
                </a:moveTo>
                <a:lnTo>
                  <a:pt x="1513389" y="0"/>
                </a:lnTo>
                <a:lnTo>
                  <a:pt x="1513389" y="1658095"/>
                </a:lnTo>
                <a:lnTo>
                  <a:pt x="0" y="1658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 rot="-5400000">
            <a:off x="13060513" y="2109974"/>
            <a:ext cx="2930312" cy="2530724"/>
          </a:xfrm>
          <a:custGeom>
            <a:rect b="b" l="l" r="r" t="t"/>
            <a:pathLst>
              <a:path extrusionOk="0" h="2530724" w="2930312">
                <a:moveTo>
                  <a:pt x="0" y="0"/>
                </a:moveTo>
                <a:lnTo>
                  <a:pt x="2930312" y="0"/>
                </a:lnTo>
                <a:lnTo>
                  <a:pt x="2930312" y="2530724"/>
                </a:lnTo>
                <a:lnTo>
                  <a:pt x="0" y="2530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 rot="-5400000">
            <a:off x="14528782" y="4496299"/>
            <a:ext cx="2930312" cy="2530724"/>
          </a:xfrm>
          <a:custGeom>
            <a:rect b="b" l="l" r="r" t="t"/>
            <a:pathLst>
              <a:path extrusionOk="0" h="2530724" w="2930312">
                <a:moveTo>
                  <a:pt x="0" y="0"/>
                </a:moveTo>
                <a:lnTo>
                  <a:pt x="2930312" y="0"/>
                </a:lnTo>
                <a:lnTo>
                  <a:pt x="2930312" y="2530724"/>
                </a:lnTo>
                <a:lnTo>
                  <a:pt x="0" y="2530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13743265" y="2628496"/>
            <a:ext cx="1564808" cy="1493680"/>
          </a:xfrm>
          <a:custGeom>
            <a:rect b="b" l="l" r="r" t="t"/>
            <a:pathLst>
              <a:path extrusionOk="0" h="1493680" w="1564808">
                <a:moveTo>
                  <a:pt x="0" y="0"/>
                </a:moveTo>
                <a:lnTo>
                  <a:pt x="1564808" y="0"/>
                </a:lnTo>
                <a:lnTo>
                  <a:pt x="1564808" y="1493680"/>
                </a:lnTo>
                <a:lnTo>
                  <a:pt x="0" y="1493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15166499" y="4923359"/>
            <a:ext cx="1654878" cy="1679305"/>
          </a:xfrm>
          <a:custGeom>
            <a:rect b="b" l="l" r="r" t="t"/>
            <a:pathLst>
              <a:path extrusionOk="0" h="1679305" w="1654878">
                <a:moveTo>
                  <a:pt x="0" y="0"/>
                </a:moveTo>
                <a:lnTo>
                  <a:pt x="1654878" y="0"/>
                </a:lnTo>
                <a:lnTo>
                  <a:pt x="1654878" y="1679304"/>
                </a:lnTo>
                <a:lnTo>
                  <a:pt x="0" y="1679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1839403" y="699702"/>
            <a:ext cx="12686267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 INSTITUCIONAL E SETORIAL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349027" y="3337236"/>
            <a:ext cx="11227500" cy="4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IFPE possui 16 campi com inventários descentralizados e heterogêneos, utilizando o SUAP.</a:t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Alguns campus tem especificidades, como animais vivos e plantas.</a:t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setor de patrimônio enfrenta desafios de padronização, atualização e consolidação de registros.</a:t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Migração para o sistema centralizado do governo federal (SIADS) é obrigatória e deve ser integral (“tudo ou nada”).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 flipH="1">
            <a:off x="-2192510" y="-540600"/>
            <a:ext cx="21396960" cy="10955655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109" name="Google Shape;109;p4"/>
          <p:cNvSpPr/>
          <p:nvPr/>
        </p:nvSpPr>
        <p:spPr>
          <a:xfrm>
            <a:off x="13875215" y="8292041"/>
            <a:ext cx="6912577" cy="6912577"/>
          </a:xfrm>
          <a:custGeom>
            <a:rect b="b" l="l" r="r" t="t"/>
            <a:pathLst>
              <a:path extrusionOk="0" h="6912577" w="6912577">
                <a:moveTo>
                  <a:pt x="0" y="0"/>
                </a:moveTo>
                <a:lnTo>
                  <a:pt x="6912578" y="0"/>
                </a:lnTo>
                <a:lnTo>
                  <a:pt x="6912578" y="6912578"/>
                </a:lnTo>
                <a:lnTo>
                  <a:pt x="0" y="6912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4"/>
          <p:cNvSpPr txBox="1"/>
          <p:nvPr/>
        </p:nvSpPr>
        <p:spPr>
          <a:xfrm>
            <a:off x="2712919" y="971550"/>
            <a:ext cx="12862161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FLUXO ATUAL DE GESTÃO PATRIMONIAL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 rot="-10488219">
            <a:off x="-1815663" y="-2426885"/>
            <a:ext cx="4704064" cy="4704064"/>
          </a:xfrm>
          <a:custGeom>
            <a:rect b="b" l="l" r="r" t="t"/>
            <a:pathLst>
              <a:path extrusionOk="0" h="4704064" w="4704064">
                <a:moveTo>
                  <a:pt x="0" y="0"/>
                </a:moveTo>
                <a:lnTo>
                  <a:pt x="4704065" y="0"/>
                </a:lnTo>
                <a:lnTo>
                  <a:pt x="4704065" y="4704064"/>
                </a:lnTo>
                <a:lnTo>
                  <a:pt x="0" y="47040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2" name="Google Shape;112;p4"/>
          <p:cNvCxnSpPr/>
          <p:nvPr/>
        </p:nvCxnSpPr>
        <p:spPr>
          <a:xfrm flipH="1">
            <a:off x="3955844" y="3637974"/>
            <a:ext cx="4032" cy="401666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/>
          <p:nvPr/>
        </p:nvCxnSpPr>
        <p:spPr>
          <a:xfrm>
            <a:off x="6661789" y="3637974"/>
            <a:ext cx="0" cy="401666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4" name="Google Shape;114;p4"/>
          <p:cNvCxnSpPr/>
          <p:nvPr/>
        </p:nvCxnSpPr>
        <p:spPr>
          <a:xfrm>
            <a:off x="9296095" y="3652726"/>
            <a:ext cx="0" cy="401666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5" name="Google Shape;115;p4"/>
          <p:cNvCxnSpPr/>
          <p:nvPr/>
        </p:nvCxnSpPr>
        <p:spPr>
          <a:xfrm flipH="1">
            <a:off x="11954540" y="3580388"/>
            <a:ext cx="7422" cy="401666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6" name="Google Shape;116;p4"/>
          <p:cNvCxnSpPr/>
          <p:nvPr/>
        </p:nvCxnSpPr>
        <p:spPr>
          <a:xfrm>
            <a:off x="14571065" y="3614626"/>
            <a:ext cx="0" cy="401666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17" name="Google Shape;117;p4"/>
          <p:cNvGrpSpPr/>
          <p:nvPr/>
        </p:nvGrpSpPr>
        <p:grpSpPr>
          <a:xfrm rot="-5400000">
            <a:off x="1194071" y="3305319"/>
            <a:ext cx="313204" cy="313204"/>
            <a:chOff x="0" y="0"/>
            <a:chExt cx="812800" cy="812800"/>
          </a:xfrm>
        </p:grpSpPr>
        <p:sp>
          <p:nvSpPr>
            <p:cNvPr id="118" name="Google Shape;11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EE82E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45775" spcFirstLastPara="1" rIns="45775" wrap="square" tIns="45775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4"/>
          <p:cNvGrpSpPr/>
          <p:nvPr/>
        </p:nvGrpSpPr>
        <p:grpSpPr>
          <a:xfrm rot="-5400000">
            <a:off x="3797814" y="3305319"/>
            <a:ext cx="313204" cy="313204"/>
            <a:chOff x="0" y="0"/>
            <a:chExt cx="812800" cy="812800"/>
          </a:xfrm>
        </p:grpSpPr>
        <p:sp>
          <p:nvSpPr>
            <p:cNvPr id="121" name="Google Shape;12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9E01B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45775" spcFirstLastPara="1" rIns="45775" wrap="square" tIns="45775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4"/>
          <p:cNvGrpSpPr/>
          <p:nvPr/>
        </p:nvGrpSpPr>
        <p:grpSpPr>
          <a:xfrm rot="-5400000">
            <a:off x="6499727" y="3305319"/>
            <a:ext cx="313204" cy="313204"/>
            <a:chOff x="0" y="0"/>
            <a:chExt cx="812800" cy="812800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EE82E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45775" spcFirstLastPara="1" rIns="45775" wrap="square" tIns="45775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4"/>
          <p:cNvGrpSpPr/>
          <p:nvPr/>
        </p:nvGrpSpPr>
        <p:grpSpPr>
          <a:xfrm rot="-5400000">
            <a:off x="9134033" y="3320072"/>
            <a:ext cx="313204" cy="313204"/>
            <a:chOff x="0" y="0"/>
            <a:chExt cx="812800" cy="812800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9E01B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45775" spcFirstLastPara="1" rIns="45775" wrap="square" tIns="45775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4"/>
          <p:cNvGrpSpPr/>
          <p:nvPr/>
        </p:nvGrpSpPr>
        <p:grpSpPr>
          <a:xfrm rot="-5400000">
            <a:off x="11805359" y="3339522"/>
            <a:ext cx="313204" cy="313204"/>
            <a:chOff x="0" y="0"/>
            <a:chExt cx="812800" cy="812800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EE82EE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45775" spcFirstLastPara="1" rIns="45775" wrap="square" tIns="45775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4"/>
          <p:cNvGrpSpPr/>
          <p:nvPr/>
        </p:nvGrpSpPr>
        <p:grpSpPr>
          <a:xfrm rot="-5400000">
            <a:off x="14409003" y="3281972"/>
            <a:ext cx="313204" cy="313204"/>
            <a:chOff x="0" y="0"/>
            <a:chExt cx="812800" cy="812800"/>
          </a:xfrm>
        </p:grpSpPr>
        <p:sp>
          <p:nvSpPr>
            <p:cNvPr id="133" name="Google Shape;133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76200">
              <a:solidFill>
                <a:srgbClr val="9E01B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45775" spcFirstLastPara="1" rIns="45775" wrap="square" tIns="45775">
              <a:noAutofit/>
            </a:bodyPr>
            <a:lstStyle/>
            <a:p>
              <a:pPr indent="0" lvl="0" marL="0" marR="0" rtl="0" algn="ctr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4"/>
          <p:cNvSpPr/>
          <p:nvPr/>
        </p:nvSpPr>
        <p:spPr>
          <a:xfrm>
            <a:off x="7529716" y="3801695"/>
            <a:ext cx="1161881" cy="1143000"/>
          </a:xfrm>
          <a:custGeom>
            <a:rect b="b" l="l" r="r" t="t"/>
            <a:pathLst>
              <a:path extrusionOk="0" h="1143000" w="1161881">
                <a:moveTo>
                  <a:pt x="0" y="0"/>
                </a:moveTo>
                <a:lnTo>
                  <a:pt x="1161881" y="0"/>
                </a:lnTo>
                <a:lnTo>
                  <a:pt x="1161881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>
            <a:off x="12648156" y="4000500"/>
            <a:ext cx="1143000" cy="1143000"/>
          </a:xfrm>
          <a:custGeom>
            <a:rect b="b" l="l" r="r" t="t"/>
            <a:pathLst>
              <a:path extrusionOk="0" h="1143000" w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>
            <a:off x="15230842" y="3985747"/>
            <a:ext cx="1143000" cy="1143000"/>
          </a:xfrm>
          <a:custGeom>
            <a:rect b="b" l="l" r="r" t="t"/>
            <a:pathLst>
              <a:path extrusionOk="0" h="1143000" w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8" name="Google Shape;138;p4"/>
          <p:cNvCxnSpPr/>
          <p:nvPr/>
        </p:nvCxnSpPr>
        <p:spPr>
          <a:xfrm flipH="1">
            <a:off x="1340249" y="3618523"/>
            <a:ext cx="10035" cy="4045243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9" name="Google Shape;139;p4"/>
          <p:cNvGrpSpPr/>
          <p:nvPr/>
        </p:nvGrpSpPr>
        <p:grpSpPr>
          <a:xfrm>
            <a:off x="1307082" y="6850551"/>
            <a:ext cx="2624950" cy="1085543"/>
            <a:chOff x="0" y="-47625"/>
            <a:chExt cx="1518905" cy="62814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1518905" cy="580515"/>
            </a:xfrm>
            <a:custGeom>
              <a:rect b="b" l="l" r="r" t="t"/>
              <a:pathLst>
                <a:path extrusionOk="0" h="580515" w="1518905">
                  <a:moveTo>
                    <a:pt x="1315705" y="0"/>
                  </a:moveTo>
                  <a:lnTo>
                    <a:pt x="0" y="0"/>
                  </a:lnTo>
                  <a:lnTo>
                    <a:pt x="0" y="580515"/>
                  </a:lnTo>
                  <a:lnTo>
                    <a:pt x="1315705" y="580515"/>
                  </a:lnTo>
                  <a:lnTo>
                    <a:pt x="1518905" y="290257"/>
                  </a:lnTo>
                  <a:lnTo>
                    <a:pt x="1315705" y="0"/>
                  </a:lnTo>
                  <a:close/>
                </a:path>
              </a:pathLst>
            </a:custGeom>
            <a:solidFill>
              <a:srgbClr val="EE82EE"/>
            </a:solidFill>
            <a:ln>
              <a:noFill/>
            </a:ln>
          </p:spPr>
        </p:sp>
        <p:sp>
          <p:nvSpPr>
            <p:cNvPr id="141" name="Google Shape;141;p4"/>
            <p:cNvSpPr txBox="1"/>
            <p:nvPr/>
          </p:nvSpPr>
          <p:spPr>
            <a:xfrm>
              <a:off x="0" y="-47625"/>
              <a:ext cx="1404605" cy="628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4"/>
          <p:cNvSpPr txBox="1"/>
          <p:nvPr/>
        </p:nvSpPr>
        <p:spPr>
          <a:xfrm>
            <a:off x="1471535" y="7141149"/>
            <a:ext cx="2068416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AQUISIÇÃO DO BEM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4"/>
          <p:cNvGrpSpPr/>
          <p:nvPr/>
        </p:nvGrpSpPr>
        <p:grpSpPr>
          <a:xfrm>
            <a:off x="3932032" y="6870002"/>
            <a:ext cx="2729758" cy="1066092"/>
            <a:chOff x="0" y="-47625"/>
            <a:chExt cx="1579551" cy="616885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1579551" cy="569260"/>
            </a:xfrm>
            <a:custGeom>
              <a:rect b="b" l="l" r="r" t="t"/>
              <a:pathLst>
                <a:path extrusionOk="0" h="569260" w="1579551">
                  <a:moveTo>
                    <a:pt x="1376351" y="0"/>
                  </a:moveTo>
                  <a:lnTo>
                    <a:pt x="0" y="0"/>
                  </a:lnTo>
                  <a:lnTo>
                    <a:pt x="0" y="569260"/>
                  </a:lnTo>
                  <a:lnTo>
                    <a:pt x="1376351" y="569260"/>
                  </a:lnTo>
                  <a:lnTo>
                    <a:pt x="1579551" y="284630"/>
                  </a:lnTo>
                  <a:lnTo>
                    <a:pt x="1376351" y="0"/>
                  </a:lnTo>
                  <a:close/>
                </a:path>
              </a:pathLst>
            </a:custGeom>
            <a:solidFill>
              <a:srgbClr val="9E01B2"/>
            </a:solidFill>
            <a:ln>
              <a:noFill/>
            </a:ln>
          </p:spPr>
        </p:sp>
        <p:sp>
          <p:nvSpPr>
            <p:cNvPr id="145" name="Google Shape;145;p4"/>
            <p:cNvSpPr txBox="1"/>
            <p:nvPr/>
          </p:nvSpPr>
          <p:spPr>
            <a:xfrm>
              <a:off x="0" y="-47625"/>
              <a:ext cx="1465251" cy="616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4"/>
          <p:cNvSpPr txBox="1"/>
          <p:nvPr/>
        </p:nvSpPr>
        <p:spPr>
          <a:xfrm>
            <a:off x="4118096" y="7160599"/>
            <a:ext cx="215100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NO SUAP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4"/>
          <p:cNvGrpSpPr/>
          <p:nvPr/>
        </p:nvGrpSpPr>
        <p:grpSpPr>
          <a:xfrm>
            <a:off x="6647332" y="6870002"/>
            <a:ext cx="2648763" cy="1066092"/>
            <a:chOff x="0" y="-47625"/>
            <a:chExt cx="1532684" cy="616885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1532684" cy="569260"/>
            </a:xfrm>
            <a:custGeom>
              <a:rect b="b" l="l" r="r" t="t"/>
              <a:pathLst>
                <a:path extrusionOk="0" h="569260" w="1532684">
                  <a:moveTo>
                    <a:pt x="1329484" y="0"/>
                  </a:moveTo>
                  <a:lnTo>
                    <a:pt x="0" y="0"/>
                  </a:lnTo>
                  <a:lnTo>
                    <a:pt x="0" y="569260"/>
                  </a:lnTo>
                  <a:lnTo>
                    <a:pt x="1329484" y="569260"/>
                  </a:lnTo>
                  <a:lnTo>
                    <a:pt x="1532684" y="284630"/>
                  </a:lnTo>
                  <a:lnTo>
                    <a:pt x="1329484" y="0"/>
                  </a:lnTo>
                  <a:close/>
                </a:path>
              </a:pathLst>
            </a:custGeom>
            <a:solidFill>
              <a:srgbClr val="EE82EE"/>
            </a:solidFill>
            <a:ln>
              <a:noFill/>
            </a:ln>
          </p:spPr>
        </p:sp>
        <p:sp>
          <p:nvSpPr>
            <p:cNvPr id="149" name="Google Shape;149;p4"/>
            <p:cNvSpPr txBox="1"/>
            <p:nvPr/>
          </p:nvSpPr>
          <p:spPr>
            <a:xfrm>
              <a:off x="0" y="-47625"/>
              <a:ext cx="1418384" cy="616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4"/>
          <p:cNvSpPr txBox="1"/>
          <p:nvPr/>
        </p:nvSpPr>
        <p:spPr>
          <a:xfrm>
            <a:off x="6828041" y="7160599"/>
            <a:ext cx="208718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VINCULAÇÃO A SERVIDOR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4"/>
          <p:cNvGrpSpPr/>
          <p:nvPr/>
        </p:nvGrpSpPr>
        <p:grpSpPr>
          <a:xfrm>
            <a:off x="9271943" y="6884754"/>
            <a:ext cx="2648847" cy="1051340"/>
            <a:chOff x="0" y="-47625"/>
            <a:chExt cx="1532733" cy="608349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1532733" cy="560724"/>
            </a:xfrm>
            <a:custGeom>
              <a:rect b="b" l="l" r="r" t="t"/>
              <a:pathLst>
                <a:path extrusionOk="0" h="560724" w="1532733">
                  <a:moveTo>
                    <a:pt x="1329533" y="0"/>
                  </a:moveTo>
                  <a:lnTo>
                    <a:pt x="0" y="0"/>
                  </a:lnTo>
                  <a:lnTo>
                    <a:pt x="0" y="560724"/>
                  </a:lnTo>
                  <a:lnTo>
                    <a:pt x="1329533" y="560724"/>
                  </a:lnTo>
                  <a:lnTo>
                    <a:pt x="1532733" y="280362"/>
                  </a:lnTo>
                  <a:lnTo>
                    <a:pt x="1329533" y="0"/>
                  </a:lnTo>
                  <a:close/>
                </a:path>
              </a:pathLst>
            </a:custGeom>
            <a:solidFill>
              <a:srgbClr val="9E01B2"/>
            </a:solidFill>
            <a:ln>
              <a:noFill/>
            </a:ln>
          </p:spPr>
        </p:sp>
        <p:sp>
          <p:nvSpPr>
            <p:cNvPr id="153" name="Google Shape;153;p4"/>
            <p:cNvSpPr txBox="1"/>
            <p:nvPr/>
          </p:nvSpPr>
          <p:spPr>
            <a:xfrm>
              <a:off x="0" y="-47625"/>
              <a:ext cx="1418433" cy="608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4"/>
          <p:cNvSpPr txBox="1"/>
          <p:nvPr/>
        </p:nvSpPr>
        <p:spPr>
          <a:xfrm>
            <a:off x="9433315" y="7203927"/>
            <a:ext cx="225923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INVENTÁRIO FÍSICO ANUAL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4"/>
          <p:cNvGrpSpPr/>
          <p:nvPr/>
        </p:nvGrpSpPr>
        <p:grpSpPr>
          <a:xfrm>
            <a:off x="11930315" y="6870002"/>
            <a:ext cx="2578681" cy="1066092"/>
            <a:chOff x="0" y="-47625"/>
            <a:chExt cx="1492132" cy="616885"/>
          </a:xfrm>
        </p:grpSpPr>
        <p:sp>
          <p:nvSpPr>
            <p:cNvPr id="156" name="Google Shape;156;p4"/>
            <p:cNvSpPr/>
            <p:nvPr/>
          </p:nvSpPr>
          <p:spPr>
            <a:xfrm>
              <a:off x="0" y="0"/>
              <a:ext cx="1492132" cy="569260"/>
            </a:xfrm>
            <a:custGeom>
              <a:rect b="b" l="l" r="r" t="t"/>
              <a:pathLst>
                <a:path extrusionOk="0" h="569260" w="1492132">
                  <a:moveTo>
                    <a:pt x="1288932" y="0"/>
                  </a:moveTo>
                  <a:lnTo>
                    <a:pt x="0" y="0"/>
                  </a:lnTo>
                  <a:lnTo>
                    <a:pt x="0" y="569260"/>
                  </a:lnTo>
                  <a:lnTo>
                    <a:pt x="1288932" y="569260"/>
                  </a:lnTo>
                  <a:lnTo>
                    <a:pt x="1492132" y="284630"/>
                  </a:lnTo>
                  <a:lnTo>
                    <a:pt x="1288932" y="0"/>
                  </a:lnTo>
                  <a:close/>
                </a:path>
              </a:pathLst>
            </a:custGeom>
            <a:solidFill>
              <a:srgbClr val="EE82EE"/>
            </a:solidFill>
            <a:ln>
              <a:noFill/>
            </a:ln>
          </p:spPr>
        </p:sp>
        <p:sp>
          <p:nvSpPr>
            <p:cNvPr id="157" name="Google Shape;157;p4"/>
            <p:cNvSpPr txBox="1"/>
            <p:nvPr/>
          </p:nvSpPr>
          <p:spPr>
            <a:xfrm>
              <a:off x="0" y="-47625"/>
              <a:ext cx="1377832" cy="616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4"/>
          <p:cNvSpPr txBox="1"/>
          <p:nvPr/>
        </p:nvSpPr>
        <p:spPr>
          <a:xfrm>
            <a:off x="12184306" y="7151074"/>
            <a:ext cx="192433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CONSOLIDAÇÃO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4"/>
          <p:cNvGrpSpPr/>
          <p:nvPr/>
        </p:nvGrpSpPr>
        <p:grpSpPr>
          <a:xfrm>
            <a:off x="14546574" y="6846654"/>
            <a:ext cx="2511536" cy="1168229"/>
            <a:chOff x="0" y="-109740"/>
            <a:chExt cx="3348715" cy="1557638"/>
          </a:xfrm>
        </p:grpSpPr>
        <p:grpSp>
          <p:nvGrpSpPr>
            <p:cNvPr id="160" name="Google Shape;160;p4"/>
            <p:cNvGrpSpPr/>
            <p:nvPr/>
          </p:nvGrpSpPr>
          <p:grpSpPr>
            <a:xfrm>
              <a:off x="0" y="-109740"/>
              <a:ext cx="3348715" cy="1452586"/>
              <a:chOff x="0" y="-47625"/>
              <a:chExt cx="1453279" cy="630395"/>
            </a:xfrm>
          </p:grpSpPr>
          <p:sp>
            <p:nvSpPr>
              <p:cNvPr id="161" name="Google Shape;161;p4"/>
              <p:cNvSpPr/>
              <p:nvPr/>
            </p:nvSpPr>
            <p:spPr>
              <a:xfrm>
                <a:off x="0" y="0"/>
                <a:ext cx="1453279" cy="582770"/>
              </a:xfrm>
              <a:custGeom>
                <a:rect b="b" l="l" r="r" t="t"/>
                <a:pathLst>
                  <a:path extrusionOk="0" h="582770" w="1453279">
                    <a:moveTo>
                      <a:pt x="1250079" y="0"/>
                    </a:moveTo>
                    <a:lnTo>
                      <a:pt x="0" y="0"/>
                    </a:lnTo>
                    <a:lnTo>
                      <a:pt x="0" y="582770"/>
                    </a:lnTo>
                    <a:lnTo>
                      <a:pt x="1250079" y="582770"/>
                    </a:lnTo>
                    <a:lnTo>
                      <a:pt x="1453279" y="291385"/>
                    </a:lnTo>
                    <a:lnTo>
                      <a:pt x="1250079" y="0"/>
                    </a:lnTo>
                    <a:close/>
                  </a:path>
                </a:pathLst>
              </a:custGeom>
              <a:solidFill>
                <a:srgbClr val="9E01B2"/>
              </a:solidFill>
              <a:ln>
                <a:noFill/>
              </a:ln>
            </p:spPr>
          </p:sp>
          <p:sp>
            <p:nvSpPr>
              <p:cNvPr id="162" name="Google Shape;162;p4"/>
              <p:cNvSpPr txBox="1"/>
              <p:nvPr/>
            </p:nvSpPr>
            <p:spPr>
              <a:xfrm>
                <a:off x="0" y="-47625"/>
                <a:ext cx="1338979" cy="6303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4"/>
            <p:cNvSpPr txBox="1"/>
            <p:nvPr/>
          </p:nvSpPr>
          <p:spPr>
            <a:xfrm>
              <a:off x="322804" y="52298"/>
              <a:ext cx="2638800" cy="13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MIGRAÇÃO FUTURA PARA SIADS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4"/>
          <p:cNvSpPr/>
          <p:nvPr/>
        </p:nvSpPr>
        <p:spPr>
          <a:xfrm rot="1528525">
            <a:off x="15999836" y="-357961"/>
            <a:ext cx="4053440" cy="2067254"/>
          </a:xfrm>
          <a:custGeom>
            <a:rect b="b" l="l" r="r" t="t"/>
            <a:pathLst>
              <a:path extrusionOk="0" h="2067254" w="4053440">
                <a:moveTo>
                  <a:pt x="0" y="0"/>
                </a:moveTo>
                <a:lnTo>
                  <a:pt x="4053440" y="0"/>
                </a:lnTo>
                <a:lnTo>
                  <a:pt x="4053440" y="2067254"/>
                </a:lnTo>
                <a:lnTo>
                  <a:pt x="0" y="206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4"/>
          <p:cNvSpPr/>
          <p:nvPr/>
        </p:nvSpPr>
        <p:spPr>
          <a:xfrm>
            <a:off x="2051132" y="3923804"/>
            <a:ext cx="1203865" cy="1369974"/>
          </a:xfrm>
          <a:custGeom>
            <a:rect b="b" l="l" r="r" t="t"/>
            <a:pathLst>
              <a:path extrusionOk="0" h="1369974" w="1203865">
                <a:moveTo>
                  <a:pt x="0" y="0"/>
                </a:moveTo>
                <a:lnTo>
                  <a:pt x="1203865" y="0"/>
                </a:lnTo>
                <a:lnTo>
                  <a:pt x="1203865" y="1369974"/>
                </a:lnTo>
                <a:lnTo>
                  <a:pt x="0" y="1369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4"/>
          <p:cNvSpPr/>
          <p:nvPr/>
        </p:nvSpPr>
        <p:spPr>
          <a:xfrm>
            <a:off x="4787226" y="3801695"/>
            <a:ext cx="1209276" cy="1327052"/>
          </a:xfrm>
          <a:custGeom>
            <a:rect b="b" l="l" r="r" t="t"/>
            <a:pathLst>
              <a:path extrusionOk="0" h="1327052" w="1209276">
                <a:moveTo>
                  <a:pt x="0" y="0"/>
                </a:moveTo>
                <a:lnTo>
                  <a:pt x="1209276" y="0"/>
                </a:lnTo>
                <a:lnTo>
                  <a:pt x="1209276" y="1327052"/>
                </a:lnTo>
                <a:lnTo>
                  <a:pt x="0" y="1327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4"/>
          <p:cNvSpPr/>
          <p:nvPr/>
        </p:nvSpPr>
        <p:spPr>
          <a:xfrm>
            <a:off x="10011231" y="3743024"/>
            <a:ext cx="1447259" cy="1430977"/>
          </a:xfrm>
          <a:custGeom>
            <a:rect b="b" l="l" r="r" t="t"/>
            <a:pathLst>
              <a:path extrusionOk="0" h="1430977" w="1447259">
                <a:moveTo>
                  <a:pt x="0" y="0"/>
                </a:moveTo>
                <a:lnTo>
                  <a:pt x="1447259" y="0"/>
                </a:lnTo>
                <a:lnTo>
                  <a:pt x="1447259" y="1430978"/>
                </a:lnTo>
                <a:lnTo>
                  <a:pt x="0" y="1430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4"/>
          <p:cNvSpPr txBox="1"/>
          <p:nvPr/>
        </p:nvSpPr>
        <p:spPr>
          <a:xfrm>
            <a:off x="1512540" y="5784152"/>
            <a:ext cx="221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</a:rPr>
              <a:t>O bem é adquirido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4067718" y="5650802"/>
            <a:ext cx="24585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campus cadastra os itens</a:t>
            </a:r>
            <a:r>
              <a:rPr lang="en-US" sz="1800">
                <a:solidFill>
                  <a:srgbClr val="FFFFFF"/>
                </a:solidFill>
              </a:rPr>
              <a:t> com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descrições não padronizadas.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6773105" y="5650802"/>
            <a:ext cx="2397217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bem associado a um responsável; grandes variações no volume.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9415151" y="5650802"/>
            <a:ext cx="2420332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Contagem manual; registros de conservação e depreciação locais.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12107773" y="5771625"/>
            <a:ext cx="222376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Relatórios inconsistentes e descentralizados.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4634390" y="5504925"/>
            <a:ext cx="2335903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Atualmente inviável devido à complexidade e falta de padronização.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cd5ca5c2c_0_0"/>
          <p:cNvSpPr/>
          <p:nvPr/>
        </p:nvSpPr>
        <p:spPr>
          <a:xfrm flipH="1">
            <a:off x="-2049990" y="0"/>
            <a:ext cx="2089404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179" name="Google Shape;179;g3acd5ca5c2c_0_0"/>
          <p:cNvSpPr/>
          <p:nvPr/>
        </p:nvSpPr>
        <p:spPr>
          <a:xfrm rot="-5400000">
            <a:off x="13060513" y="6885324"/>
            <a:ext cx="2930312" cy="2530724"/>
          </a:xfrm>
          <a:custGeom>
            <a:rect b="b" l="l" r="r" t="t"/>
            <a:pathLst>
              <a:path extrusionOk="0" h="2530724" w="2930312">
                <a:moveTo>
                  <a:pt x="0" y="0"/>
                </a:moveTo>
                <a:lnTo>
                  <a:pt x="2930312" y="0"/>
                </a:lnTo>
                <a:lnTo>
                  <a:pt x="2930312" y="2530724"/>
                </a:lnTo>
                <a:lnTo>
                  <a:pt x="0" y="2530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g3acd5ca5c2c_0_0"/>
          <p:cNvSpPr/>
          <p:nvPr/>
        </p:nvSpPr>
        <p:spPr>
          <a:xfrm>
            <a:off x="13768975" y="7321638"/>
            <a:ext cx="1513389" cy="1658096"/>
          </a:xfrm>
          <a:custGeom>
            <a:rect b="b" l="l" r="r" t="t"/>
            <a:pathLst>
              <a:path extrusionOk="0" h="1658096" w="1513389">
                <a:moveTo>
                  <a:pt x="0" y="0"/>
                </a:moveTo>
                <a:lnTo>
                  <a:pt x="1513389" y="0"/>
                </a:lnTo>
                <a:lnTo>
                  <a:pt x="1513389" y="1658095"/>
                </a:lnTo>
                <a:lnTo>
                  <a:pt x="0" y="1658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g3acd5ca5c2c_0_0"/>
          <p:cNvSpPr/>
          <p:nvPr/>
        </p:nvSpPr>
        <p:spPr>
          <a:xfrm rot="-5400000">
            <a:off x="13060513" y="2109974"/>
            <a:ext cx="2930312" cy="2530724"/>
          </a:xfrm>
          <a:custGeom>
            <a:rect b="b" l="l" r="r" t="t"/>
            <a:pathLst>
              <a:path extrusionOk="0" h="2530724" w="2930312">
                <a:moveTo>
                  <a:pt x="0" y="0"/>
                </a:moveTo>
                <a:lnTo>
                  <a:pt x="2930312" y="0"/>
                </a:lnTo>
                <a:lnTo>
                  <a:pt x="2930312" y="2530724"/>
                </a:lnTo>
                <a:lnTo>
                  <a:pt x="0" y="2530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acd5ca5c2c_0_0"/>
          <p:cNvSpPr/>
          <p:nvPr/>
        </p:nvSpPr>
        <p:spPr>
          <a:xfrm rot="-5400000">
            <a:off x="14528782" y="4496299"/>
            <a:ext cx="2930312" cy="2530724"/>
          </a:xfrm>
          <a:custGeom>
            <a:rect b="b" l="l" r="r" t="t"/>
            <a:pathLst>
              <a:path extrusionOk="0" h="2530724" w="2930312">
                <a:moveTo>
                  <a:pt x="0" y="0"/>
                </a:moveTo>
                <a:lnTo>
                  <a:pt x="2930312" y="0"/>
                </a:lnTo>
                <a:lnTo>
                  <a:pt x="2930312" y="2530724"/>
                </a:lnTo>
                <a:lnTo>
                  <a:pt x="0" y="2530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g3acd5ca5c2c_0_0"/>
          <p:cNvSpPr/>
          <p:nvPr/>
        </p:nvSpPr>
        <p:spPr>
          <a:xfrm>
            <a:off x="13743265" y="2628496"/>
            <a:ext cx="1564808" cy="1493680"/>
          </a:xfrm>
          <a:custGeom>
            <a:rect b="b" l="l" r="r" t="t"/>
            <a:pathLst>
              <a:path extrusionOk="0" h="1493680" w="1564808">
                <a:moveTo>
                  <a:pt x="0" y="0"/>
                </a:moveTo>
                <a:lnTo>
                  <a:pt x="1564808" y="0"/>
                </a:lnTo>
                <a:lnTo>
                  <a:pt x="1564808" y="1493680"/>
                </a:lnTo>
                <a:lnTo>
                  <a:pt x="0" y="1493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g3acd5ca5c2c_0_0"/>
          <p:cNvSpPr/>
          <p:nvPr/>
        </p:nvSpPr>
        <p:spPr>
          <a:xfrm>
            <a:off x="15166499" y="4923359"/>
            <a:ext cx="1654878" cy="1679305"/>
          </a:xfrm>
          <a:custGeom>
            <a:rect b="b" l="l" r="r" t="t"/>
            <a:pathLst>
              <a:path extrusionOk="0" h="1679305" w="1654878">
                <a:moveTo>
                  <a:pt x="0" y="0"/>
                </a:moveTo>
                <a:lnTo>
                  <a:pt x="1654878" y="0"/>
                </a:lnTo>
                <a:lnTo>
                  <a:pt x="1654878" y="1679304"/>
                </a:lnTo>
                <a:lnTo>
                  <a:pt x="0" y="1679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g3acd5ca5c2c_0_0"/>
          <p:cNvSpPr txBox="1"/>
          <p:nvPr/>
        </p:nvSpPr>
        <p:spPr>
          <a:xfrm>
            <a:off x="1839403" y="699702"/>
            <a:ext cx="12686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acd5ca5c2c_0_0"/>
          <p:cNvSpPr txBox="1"/>
          <p:nvPr/>
        </p:nvSpPr>
        <p:spPr>
          <a:xfrm>
            <a:off x="1349027" y="3337236"/>
            <a:ext cx="112275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Migração do SUAP para o sistema centralizado do governo federal (SIADS)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 flipH="1">
            <a:off x="-1713055" y="-192887"/>
            <a:ext cx="202996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192" name="Google Shape;192;p5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5"/>
          <p:cNvSpPr txBox="1"/>
          <p:nvPr/>
        </p:nvSpPr>
        <p:spPr>
          <a:xfrm>
            <a:off x="1592229" y="795020"/>
            <a:ext cx="6947364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874885" y="4461425"/>
            <a:ext cx="3456632" cy="3107010"/>
          </a:xfrm>
          <a:custGeom>
            <a:rect b="b" l="l" r="r" t="t"/>
            <a:pathLst>
              <a:path extrusionOk="0" h="2638650" w="2638650">
                <a:moveTo>
                  <a:pt x="0" y="0"/>
                </a:moveTo>
                <a:lnTo>
                  <a:pt x="2638650" y="0"/>
                </a:lnTo>
                <a:lnTo>
                  <a:pt x="2638650" y="2638651"/>
                </a:lnTo>
                <a:lnTo>
                  <a:pt x="0" y="26386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5"/>
          <p:cNvSpPr/>
          <p:nvPr/>
        </p:nvSpPr>
        <p:spPr>
          <a:xfrm>
            <a:off x="8384546" y="4461425"/>
            <a:ext cx="3456632" cy="3107010"/>
          </a:xfrm>
          <a:custGeom>
            <a:rect b="b" l="l" r="r" t="t"/>
            <a:pathLst>
              <a:path extrusionOk="0" h="2638650" w="2638650">
                <a:moveTo>
                  <a:pt x="0" y="0"/>
                </a:moveTo>
                <a:lnTo>
                  <a:pt x="2638650" y="0"/>
                </a:lnTo>
                <a:lnTo>
                  <a:pt x="2638650" y="2638651"/>
                </a:lnTo>
                <a:lnTo>
                  <a:pt x="0" y="26386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6" name="Google Shape;196;p5"/>
          <p:cNvCxnSpPr/>
          <p:nvPr/>
        </p:nvCxnSpPr>
        <p:spPr>
          <a:xfrm>
            <a:off x="7332340" y="6016235"/>
            <a:ext cx="1052400" cy="0"/>
          </a:xfrm>
          <a:prstGeom prst="straightConnector1">
            <a:avLst/>
          </a:prstGeom>
          <a:noFill/>
          <a:ln cap="flat" cmpd="sng" w="66675">
            <a:solidFill>
              <a:srgbClr val="EE82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5"/>
          <p:cNvSpPr txBox="1"/>
          <p:nvPr/>
        </p:nvSpPr>
        <p:spPr>
          <a:xfrm>
            <a:off x="4159459" y="5580377"/>
            <a:ext cx="28884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7"/>
              <a:buFont typeface="Arial"/>
              <a:buNone/>
            </a:pPr>
            <a:r>
              <a:rPr lang="en-US" sz="3117">
                <a:solidFill>
                  <a:srgbClr val="EE82EE"/>
                </a:solidFill>
              </a:rPr>
              <a:t>Padronização dos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8669250" y="5617275"/>
            <a:ext cx="3084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7"/>
              <a:buFont typeface="Arial"/>
              <a:buNone/>
            </a:pPr>
            <a:r>
              <a:rPr lang="en-US" sz="2917">
                <a:solidFill>
                  <a:srgbClr val="EE82EE"/>
                </a:solidFill>
              </a:rPr>
              <a:t>Migração para o SIADS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5192864" y="7656520"/>
            <a:ext cx="821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i="0" lang="en-US" sz="32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702525" y="7656520"/>
            <a:ext cx="8217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i="0" lang="en-US" sz="326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1611350" y="1734825"/>
            <a:ext cx="12676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solução proposta consiste em 2 etapas principais, sendo o nosso foco na </a:t>
            </a: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primeira</a:t>
            </a:r>
            <a:r>
              <a:rPr b="0" i="0" lang="en-US" sz="2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delas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cd5ca5c2c_0_12"/>
          <p:cNvSpPr/>
          <p:nvPr/>
        </p:nvSpPr>
        <p:spPr>
          <a:xfrm flipH="1">
            <a:off x="-2734554" y="-192887"/>
            <a:ext cx="228142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207" name="Google Shape;207;g3acd5ca5c2c_0_12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g3acd5ca5c2c_0_12"/>
          <p:cNvSpPr txBox="1"/>
          <p:nvPr/>
        </p:nvSpPr>
        <p:spPr>
          <a:xfrm>
            <a:off x="2956629" y="795020"/>
            <a:ext cx="694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PADRONIZAÇÃO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acd5ca5c2c_0_12"/>
          <p:cNvSpPr txBox="1"/>
          <p:nvPr/>
        </p:nvSpPr>
        <p:spPr>
          <a:xfrm>
            <a:off x="-275124" y="795025"/>
            <a:ext cx="2950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lang="en-US" sz="10500">
                <a:solidFill>
                  <a:srgbClr val="FFFFFF"/>
                </a:solidFill>
              </a:rPr>
              <a:t>01</a:t>
            </a:r>
            <a:endParaRPr b="1" sz="10500">
              <a:solidFill>
                <a:srgbClr val="FFFFFF"/>
              </a:solidFill>
            </a:endParaRPr>
          </a:p>
        </p:txBody>
      </p:sp>
      <p:sp>
        <p:nvSpPr>
          <p:cNvPr id="210" name="Google Shape;210;g3acd5ca5c2c_0_12"/>
          <p:cNvSpPr txBox="1"/>
          <p:nvPr/>
        </p:nvSpPr>
        <p:spPr>
          <a:xfrm>
            <a:off x="2956618" y="1672054"/>
            <a:ext cx="1173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4399">
                <a:solidFill>
                  <a:srgbClr val="FFFFFF"/>
                </a:solidFill>
              </a:rPr>
              <a:t>Extração dos dados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acd5ca5c2c_0_12"/>
          <p:cNvSpPr txBox="1"/>
          <p:nvPr/>
        </p:nvSpPr>
        <p:spPr>
          <a:xfrm>
            <a:off x="263225" y="3429000"/>
            <a:ext cx="66876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https://tabula.technology/</a:t>
            </a:r>
            <a:endParaRPr b="1" sz="3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É uma ferramenta open-source para transformar pdf em csv</a:t>
            </a:r>
            <a:endParaRPr sz="3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2" name="Google Shape;212;g3acd5ca5c2c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2750" y="2456675"/>
            <a:ext cx="11736001" cy="66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cd5ca5c2c_0_57"/>
          <p:cNvSpPr/>
          <p:nvPr/>
        </p:nvSpPr>
        <p:spPr>
          <a:xfrm flipH="1">
            <a:off x="-2734554" y="-192887"/>
            <a:ext cx="228142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218" name="Google Shape;218;g3acd5ca5c2c_0_57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g3acd5ca5c2c_0_57"/>
          <p:cNvSpPr txBox="1"/>
          <p:nvPr/>
        </p:nvSpPr>
        <p:spPr>
          <a:xfrm>
            <a:off x="2956629" y="795020"/>
            <a:ext cx="694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PADRONIZAÇÃO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acd5ca5c2c_0_57"/>
          <p:cNvSpPr txBox="1"/>
          <p:nvPr/>
        </p:nvSpPr>
        <p:spPr>
          <a:xfrm>
            <a:off x="-275124" y="795025"/>
            <a:ext cx="2950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lang="en-US" sz="10500">
                <a:solidFill>
                  <a:srgbClr val="FFFFFF"/>
                </a:solidFill>
              </a:rPr>
              <a:t>02</a:t>
            </a:r>
            <a:endParaRPr b="1" sz="10500">
              <a:solidFill>
                <a:srgbClr val="FFFFFF"/>
              </a:solidFill>
            </a:endParaRPr>
          </a:p>
        </p:txBody>
      </p:sp>
      <p:sp>
        <p:nvSpPr>
          <p:cNvPr id="221" name="Google Shape;221;g3acd5ca5c2c_0_57"/>
          <p:cNvSpPr txBox="1"/>
          <p:nvPr/>
        </p:nvSpPr>
        <p:spPr>
          <a:xfrm>
            <a:off x="2956618" y="1672054"/>
            <a:ext cx="1173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4399">
                <a:solidFill>
                  <a:srgbClr val="FFFFFF"/>
                </a:solidFill>
              </a:rPr>
              <a:t>Limpeza e Agrupamento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acd5ca5c2c_0_57"/>
          <p:cNvSpPr txBox="1"/>
          <p:nvPr/>
        </p:nvSpPr>
        <p:spPr>
          <a:xfrm>
            <a:off x="263225" y="3429000"/>
            <a:ext cx="66876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sng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https://openrefine.org/</a:t>
            </a:r>
            <a:endParaRPr b="1" sz="37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</a:rPr>
              <a:t>É open-source e roda localmente, garantindo privacidade. Faz clustering dos dados.</a:t>
            </a:r>
            <a:endParaRPr b="1" sz="3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700">
              <a:solidFill>
                <a:srgbClr val="FFFFFF"/>
              </a:solidFill>
            </a:endParaRPr>
          </a:p>
        </p:txBody>
      </p:sp>
      <p:pic>
        <p:nvPicPr>
          <p:cNvPr id="223" name="Google Shape;223;g3acd5ca5c2c_0_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7975" y="2751100"/>
            <a:ext cx="10858949" cy="615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cd5ca5c2c_0_68"/>
          <p:cNvSpPr/>
          <p:nvPr/>
        </p:nvSpPr>
        <p:spPr>
          <a:xfrm flipH="1">
            <a:off x="-2734554" y="-192887"/>
            <a:ext cx="228142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229" name="Google Shape;229;g3acd5ca5c2c_0_68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g3acd5ca5c2c_0_68"/>
          <p:cNvSpPr txBox="1"/>
          <p:nvPr/>
        </p:nvSpPr>
        <p:spPr>
          <a:xfrm>
            <a:off x="2956629" y="795020"/>
            <a:ext cx="694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PADRONIZAÇÃO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acd5ca5c2c_0_68"/>
          <p:cNvSpPr txBox="1"/>
          <p:nvPr/>
        </p:nvSpPr>
        <p:spPr>
          <a:xfrm>
            <a:off x="-275124" y="795025"/>
            <a:ext cx="2950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lang="en-US" sz="10500">
                <a:solidFill>
                  <a:srgbClr val="FFFFFF"/>
                </a:solidFill>
              </a:rPr>
              <a:t>02</a:t>
            </a:r>
            <a:endParaRPr b="1" sz="10500">
              <a:solidFill>
                <a:srgbClr val="FFFFFF"/>
              </a:solidFill>
            </a:endParaRPr>
          </a:p>
        </p:txBody>
      </p:sp>
      <p:sp>
        <p:nvSpPr>
          <p:cNvPr id="232" name="Google Shape;232;g3acd5ca5c2c_0_68"/>
          <p:cNvSpPr txBox="1"/>
          <p:nvPr/>
        </p:nvSpPr>
        <p:spPr>
          <a:xfrm>
            <a:off x="2956618" y="1672054"/>
            <a:ext cx="1173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4399">
                <a:solidFill>
                  <a:srgbClr val="FFFFFF"/>
                </a:solidFill>
              </a:rPr>
              <a:t>Limpeza e Agrupamento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acd5ca5c2c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4350" y="2456675"/>
            <a:ext cx="13006074" cy="755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cd5ca5c2c_0_88"/>
          <p:cNvSpPr/>
          <p:nvPr/>
        </p:nvSpPr>
        <p:spPr>
          <a:xfrm flipH="1">
            <a:off x="-2734554" y="-192887"/>
            <a:ext cx="228142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239" name="Google Shape;239;g3acd5ca5c2c_0_88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g3acd5ca5c2c_0_88"/>
          <p:cNvSpPr txBox="1"/>
          <p:nvPr/>
        </p:nvSpPr>
        <p:spPr>
          <a:xfrm>
            <a:off x="2956629" y="795020"/>
            <a:ext cx="694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PADRONIZAÇÃO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acd5ca5c2c_0_88"/>
          <p:cNvSpPr txBox="1"/>
          <p:nvPr/>
        </p:nvSpPr>
        <p:spPr>
          <a:xfrm>
            <a:off x="-275124" y="795025"/>
            <a:ext cx="2950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lang="en-US" sz="10500">
                <a:solidFill>
                  <a:srgbClr val="FFFFFF"/>
                </a:solidFill>
              </a:rPr>
              <a:t>03</a:t>
            </a:r>
            <a:endParaRPr b="1" sz="10500">
              <a:solidFill>
                <a:srgbClr val="FFFFFF"/>
              </a:solidFill>
            </a:endParaRPr>
          </a:p>
        </p:txBody>
      </p:sp>
      <p:sp>
        <p:nvSpPr>
          <p:cNvPr id="242" name="Google Shape;242;g3acd5ca5c2c_0_88"/>
          <p:cNvSpPr txBox="1"/>
          <p:nvPr/>
        </p:nvSpPr>
        <p:spPr>
          <a:xfrm>
            <a:off x="2956618" y="1672054"/>
            <a:ext cx="1173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4399">
                <a:solidFill>
                  <a:srgbClr val="FFFFFF"/>
                </a:solidFill>
              </a:rPr>
              <a:t>Padronização Semântica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acd5ca5c2c_0_88"/>
          <p:cNvSpPr txBox="1"/>
          <p:nvPr/>
        </p:nvSpPr>
        <p:spPr>
          <a:xfrm>
            <a:off x="263225" y="3429000"/>
            <a:ext cx="66876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FFFFFF"/>
                </a:solidFill>
              </a:rPr>
              <a:t>Usar o </a:t>
            </a:r>
            <a:r>
              <a:rPr b="1" lang="en-US" sz="3700">
                <a:solidFill>
                  <a:srgbClr val="FFFFFF"/>
                </a:solidFill>
              </a:rPr>
              <a:t>LM Studio</a:t>
            </a:r>
            <a:r>
              <a:rPr lang="en-US" sz="3700">
                <a:solidFill>
                  <a:srgbClr val="FFFFFF"/>
                </a:solidFill>
              </a:rPr>
              <a:t> para padronizar os dados restantes.</a:t>
            </a:r>
            <a:endParaRPr sz="3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700">
              <a:solidFill>
                <a:srgbClr val="FFFFFF"/>
              </a:solidFill>
            </a:endParaRPr>
          </a:p>
        </p:txBody>
      </p:sp>
      <p:sp>
        <p:nvSpPr>
          <p:cNvPr id="244" name="Google Shape;244;g3acd5ca5c2c_0_88"/>
          <p:cNvSpPr txBox="1"/>
          <p:nvPr/>
        </p:nvSpPr>
        <p:spPr>
          <a:xfrm>
            <a:off x="9577500" y="1048625"/>
            <a:ext cx="8710500" cy="8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6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3"/>
              <a:buFont typeface="Lato"/>
              <a:buChar char="●"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Extrair apenas a lista de descrições únicas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6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3"/>
              <a:buFont typeface="Lato"/>
              <a:buChar char="●"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Passar essa lista para o </a:t>
            </a:r>
            <a:r>
              <a:rPr b="1"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LM Studio </a:t>
            </a: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com o seguinte prompt: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"Tenho uma lista de descrições de patrimônio (Coluna A). Preciso que você gere uma Coluna B com o 'Nome Padronizado'.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Regras de Ouro: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60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103"/>
              <a:buFont typeface="Lato"/>
              <a:buAutoNum type="arabicPeriod"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CORRIGIR: Erros de português, abreviações ('Cad.' -&gt; 'Cadeira') e formatação.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6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3"/>
              <a:buFont typeface="Lato"/>
              <a:buAutoNum type="arabicPeriod"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MANTER: A especificidade do item. 'Cadeira de Escritório' é diferente de 'Cadeira Escolar'. Mantenha essa diferença. Não generalize para apenas 'Cadeira'.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42560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3"/>
              <a:buFont typeface="Lato"/>
              <a:buAutoNum type="arabicPeriod"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FORMATO: Me entregue APENAS uma tabela CSV com duas colunas: original; padronizado.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102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Lista: [Cole sua lista de únicos aqui]"</a:t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2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d5ca5c2c_0_99"/>
          <p:cNvSpPr/>
          <p:nvPr/>
        </p:nvSpPr>
        <p:spPr>
          <a:xfrm flipH="1">
            <a:off x="-2734554" y="-192887"/>
            <a:ext cx="228142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250" name="Google Shape;250;g3acd5ca5c2c_0_99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g3acd5ca5c2c_0_99"/>
          <p:cNvSpPr txBox="1"/>
          <p:nvPr/>
        </p:nvSpPr>
        <p:spPr>
          <a:xfrm>
            <a:off x="2956629" y="795020"/>
            <a:ext cx="694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PADRONIZAÇÃO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acd5ca5c2c_0_99"/>
          <p:cNvSpPr txBox="1"/>
          <p:nvPr/>
        </p:nvSpPr>
        <p:spPr>
          <a:xfrm>
            <a:off x="-275124" y="795025"/>
            <a:ext cx="2950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3"/>
              <a:buFont typeface="Arial"/>
              <a:buNone/>
            </a:pPr>
            <a:r>
              <a:rPr b="1" lang="en-US" sz="10500">
                <a:solidFill>
                  <a:srgbClr val="FFFFFF"/>
                </a:solidFill>
              </a:rPr>
              <a:t>04</a:t>
            </a:r>
            <a:endParaRPr b="1" sz="10500">
              <a:solidFill>
                <a:srgbClr val="FFFFFF"/>
              </a:solidFill>
            </a:endParaRPr>
          </a:p>
        </p:txBody>
      </p:sp>
      <p:sp>
        <p:nvSpPr>
          <p:cNvPr id="253" name="Google Shape;253;g3acd5ca5c2c_0_99"/>
          <p:cNvSpPr txBox="1"/>
          <p:nvPr/>
        </p:nvSpPr>
        <p:spPr>
          <a:xfrm>
            <a:off x="2956618" y="1672054"/>
            <a:ext cx="1173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lang="en-US" sz="4399">
                <a:solidFill>
                  <a:srgbClr val="FFFFFF"/>
                </a:solidFill>
              </a:rPr>
              <a:t>Cruzamento dos dados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acd5ca5c2c_0_99"/>
          <p:cNvSpPr txBox="1"/>
          <p:nvPr/>
        </p:nvSpPr>
        <p:spPr>
          <a:xfrm>
            <a:off x="263225" y="3429000"/>
            <a:ext cx="66876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930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AutoNum type="arabicPeriod"/>
            </a:pPr>
            <a:r>
              <a:rPr lang="en-US" sz="3700">
                <a:solidFill>
                  <a:srgbClr val="FFFFFF"/>
                </a:solidFill>
              </a:rPr>
              <a:t>Pegue a saída da LLM (uma tabela com "Nome Antigo" -&gt; "Nome Padronizado").</a:t>
            </a:r>
            <a:endParaRPr sz="3700">
              <a:solidFill>
                <a:srgbClr val="FFFFFF"/>
              </a:solidFill>
            </a:endParaRPr>
          </a:p>
          <a:p>
            <a:pPr indent="-3930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AutoNum type="arabicPeriod"/>
            </a:pPr>
            <a:r>
              <a:rPr lang="en-US" sz="3700">
                <a:solidFill>
                  <a:srgbClr val="FFFFFF"/>
                </a:solidFill>
              </a:rPr>
              <a:t>Volte para sua planilha original.</a:t>
            </a:r>
            <a:endParaRPr sz="3700">
              <a:solidFill>
                <a:srgbClr val="FFFFFF"/>
              </a:solidFill>
            </a:endParaRPr>
          </a:p>
          <a:p>
            <a:pPr indent="-3930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AutoNum type="arabicPeriod"/>
            </a:pPr>
            <a:r>
              <a:rPr lang="en-US" sz="3700">
                <a:solidFill>
                  <a:srgbClr val="FFFFFF"/>
                </a:solidFill>
              </a:rPr>
              <a:t>Faça um PROCV (Excel) ou Join (OpenRefine/Python) para aplicar o nome padronizado a todos os milhares de itens.</a:t>
            </a:r>
            <a:endParaRPr sz="3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700">
              <a:solidFill>
                <a:srgbClr val="FFFFFF"/>
              </a:solidFill>
            </a:endParaRPr>
          </a:p>
        </p:txBody>
      </p:sp>
      <p:pic>
        <p:nvPicPr>
          <p:cNvPr id="255" name="Google Shape;255;g3acd5ca5c2c_0_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7974" y="3142225"/>
            <a:ext cx="13347687" cy="47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cd5ca5c2c_0_110"/>
          <p:cNvSpPr/>
          <p:nvPr/>
        </p:nvSpPr>
        <p:spPr>
          <a:xfrm flipH="1">
            <a:off x="-2734554" y="-192887"/>
            <a:ext cx="22814280" cy="10672763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7" l="0" r="0" t="-38877"/>
            </a:stretch>
          </a:blipFill>
          <a:ln>
            <a:noFill/>
          </a:ln>
        </p:spPr>
      </p:sp>
      <p:sp>
        <p:nvSpPr>
          <p:cNvPr id="261" name="Google Shape;261;g3acd5ca5c2c_0_110"/>
          <p:cNvSpPr/>
          <p:nvPr/>
        </p:nvSpPr>
        <p:spPr>
          <a:xfrm>
            <a:off x="14128700" y="-5780740"/>
            <a:ext cx="13978141" cy="10242165"/>
          </a:xfrm>
          <a:custGeom>
            <a:rect b="b" l="l" r="r" t="t"/>
            <a:pathLst>
              <a:path extrusionOk="0" h="10242165" w="13978141">
                <a:moveTo>
                  <a:pt x="0" y="0"/>
                </a:moveTo>
                <a:lnTo>
                  <a:pt x="13978141" y="0"/>
                </a:lnTo>
                <a:lnTo>
                  <a:pt x="13978141" y="10242165"/>
                </a:lnTo>
                <a:lnTo>
                  <a:pt x="0" y="10242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g3acd5ca5c2c_0_110"/>
          <p:cNvSpPr txBox="1"/>
          <p:nvPr/>
        </p:nvSpPr>
        <p:spPr>
          <a:xfrm>
            <a:off x="4920149" y="872250"/>
            <a:ext cx="8447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MIGRAÇÃO PARA O SIADS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acd5ca5c2c_0_110"/>
          <p:cNvSpPr txBox="1"/>
          <p:nvPr/>
        </p:nvSpPr>
        <p:spPr>
          <a:xfrm>
            <a:off x="237475" y="4278525"/>
            <a:ext cx="82062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Código em Python seguindo o guia</a:t>
            </a:r>
            <a:endParaRPr sz="3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5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5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Guia de Orientações para Geração dos Arquivos para implantação do SIADS</a:t>
            </a:r>
            <a:r>
              <a:rPr lang="en-US" sz="3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3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5600">
              <a:solidFill>
                <a:srgbClr val="FFFFFF"/>
              </a:solidFill>
            </a:endParaRPr>
          </a:p>
        </p:txBody>
      </p:sp>
      <p:sp>
        <p:nvSpPr>
          <p:cNvPr id="264" name="Google Shape;264;g3acd5ca5c2c_0_110"/>
          <p:cNvSpPr txBox="1"/>
          <p:nvPr/>
        </p:nvSpPr>
        <p:spPr>
          <a:xfrm>
            <a:off x="10198075" y="4999325"/>
            <a:ext cx="6687600" cy="17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300">
                <a:solidFill>
                  <a:srgbClr val="EE82EE"/>
                </a:solidFill>
                <a:latin typeface="Lato"/>
                <a:ea typeface="Lato"/>
                <a:cs typeface="Lato"/>
                <a:sym typeface="Lato"/>
              </a:rPr>
              <a:t>Python + Pandas</a:t>
            </a:r>
            <a:endParaRPr sz="6300">
              <a:solidFill>
                <a:srgbClr val="EE82E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"/>
          <p:cNvSpPr/>
          <p:nvPr/>
        </p:nvSpPr>
        <p:spPr>
          <a:xfrm flipH="1">
            <a:off x="-4176180" y="-128750"/>
            <a:ext cx="22814280" cy="10827068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270" name="Google Shape;270;p6"/>
          <p:cNvSpPr/>
          <p:nvPr/>
        </p:nvSpPr>
        <p:spPr>
          <a:xfrm rot="7259833">
            <a:off x="15277502" y="8889260"/>
            <a:ext cx="4053440" cy="2067254"/>
          </a:xfrm>
          <a:custGeom>
            <a:rect b="b" l="l" r="r" t="t"/>
            <a:pathLst>
              <a:path extrusionOk="0" h="2067254" w="4053440">
                <a:moveTo>
                  <a:pt x="0" y="0"/>
                </a:moveTo>
                <a:lnTo>
                  <a:pt x="4053439" y="0"/>
                </a:lnTo>
                <a:lnTo>
                  <a:pt x="4053439" y="2067255"/>
                </a:lnTo>
                <a:lnTo>
                  <a:pt x="0" y="2067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6"/>
          <p:cNvSpPr txBox="1"/>
          <p:nvPr/>
        </p:nvSpPr>
        <p:spPr>
          <a:xfrm>
            <a:off x="6280884" y="756955"/>
            <a:ext cx="6691640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DA SOLUÇÃO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 rot="-3143206">
            <a:off x="14095662" y="-2479950"/>
            <a:ext cx="3975947" cy="7951895"/>
          </a:xfrm>
          <a:custGeom>
            <a:rect b="b" l="l" r="r" t="t"/>
            <a:pathLst>
              <a:path extrusionOk="0" h="7951895" w="3975947">
                <a:moveTo>
                  <a:pt x="0" y="0"/>
                </a:moveTo>
                <a:lnTo>
                  <a:pt x="3975947" y="0"/>
                </a:lnTo>
                <a:lnTo>
                  <a:pt x="3975947" y="7951895"/>
                </a:lnTo>
                <a:lnTo>
                  <a:pt x="0" y="795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6"/>
          <p:cNvSpPr txBox="1"/>
          <p:nvPr/>
        </p:nvSpPr>
        <p:spPr>
          <a:xfrm>
            <a:off x="6297103" y="2493488"/>
            <a:ext cx="47290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E82EE"/>
                </a:solidFill>
                <a:latin typeface="Arial"/>
                <a:ea typeface="Arial"/>
                <a:cs typeface="Arial"/>
                <a:sym typeface="Arial"/>
              </a:rPr>
              <a:t>O que a solução resolve: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6603183" y="3293588"/>
            <a:ext cx="71619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Elimina a falta de padronização no cadastro de patrimônio</a:t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90" lvl="1" marL="474979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Torna possível a migração dos dados para o SIADS</a:t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6297103" y="5154500"/>
            <a:ext cx="425447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E82EE"/>
                </a:solidFill>
                <a:latin typeface="Arial"/>
                <a:ea typeface="Arial"/>
                <a:cs typeface="Arial"/>
                <a:sym typeface="Arial"/>
              </a:rPr>
              <a:t>Benefício para o IFPE: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6603183" y="5954600"/>
            <a:ext cx="7161900" cy="1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Transição mais rápida e segura para o novo sistema</a:t>
            </a:r>
            <a:endParaRPr b="0" i="0" sz="2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Gestão patrimonial mais eficiente e confiável</a:t>
            </a:r>
            <a:endParaRPr b="0" i="0" sz="2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Padronização mantida entre todos os campi</a:t>
            </a:r>
            <a:endParaRPr b="0" i="0" sz="2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 rot="-10262813">
            <a:off x="-1478247" y="-150241"/>
            <a:ext cx="6067668" cy="8128479"/>
          </a:xfrm>
          <a:custGeom>
            <a:rect b="b" l="l" r="r" t="t"/>
            <a:pathLst>
              <a:path extrusionOk="0" h="7951895" w="3975947">
                <a:moveTo>
                  <a:pt x="0" y="0"/>
                </a:moveTo>
                <a:lnTo>
                  <a:pt x="3975947" y="0"/>
                </a:lnTo>
                <a:lnTo>
                  <a:pt x="3975947" y="7951895"/>
                </a:lnTo>
                <a:lnTo>
                  <a:pt x="0" y="795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064e78398_0_6"/>
          <p:cNvSpPr/>
          <p:nvPr/>
        </p:nvSpPr>
        <p:spPr>
          <a:xfrm flipH="1">
            <a:off x="-1812535" y="180200"/>
            <a:ext cx="2093976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4" l="0" r="0" t="-38884"/>
            </a:stretch>
          </a:blipFill>
          <a:ln>
            <a:noFill/>
          </a:ln>
        </p:spPr>
      </p:sp>
      <p:pic>
        <p:nvPicPr>
          <p:cNvPr id="283" name="Google Shape;283;g3a064e78398_0_6"/>
          <p:cNvPicPr preferRelativeResize="0"/>
          <p:nvPr/>
        </p:nvPicPr>
        <p:blipFill rotWithShape="1">
          <a:blip r:embed="rId4">
            <a:alphaModFix/>
          </a:blip>
          <a:srcRect b="0" l="7626" r="7634" t="0"/>
          <a:stretch/>
        </p:blipFill>
        <p:spPr>
          <a:xfrm>
            <a:off x="14003124" y="501751"/>
            <a:ext cx="5244522" cy="9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a064e78398_0_6"/>
          <p:cNvSpPr/>
          <p:nvPr/>
        </p:nvSpPr>
        <p:spPr>
          <a:xfrm>
            <a:off x="-3395286" y="2851992"/>
            <a:ext cx="9610987" cy="1083420"/>
          </a:xfrm>
          <a:custGeom>
            <a:rect b="b" l="l" r="r" t="t"/>
            <a:pathLst>
              <a:path extrusionOk="0" h="1083420" w="9610987">
                <a:moveTo>
                  <a:pt x="0" y="0"/>
                </a:moveTo>
                <a:lnTo>
                  <a:pt x="9610987" y="0"/>
                </a:lnTo>
                <a:lnTo>
                  <a:pt x="9610987" y="1083421"/>
                </a:lnTo>
                <a:lnTo>
                  <a:pt x="0" y="108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g3a064e78398_0_6"/>
          <p:cNvSpPr/>
          <p:nvPr/>
        </p:nvSpPr>
        <p:spPr>
          <a:xfrm>
            <a:off x="495284" y="2968058"/>
            <a:ext cx="876796" cy="851289"/>
          </a:xfrm>
          <a:custGeom>
            <a:rect b="b" l="l" r="r" t="t"/>
            <a:pathLst>
              <a:path extrusionOk="0" h="851289" w="876796">
                <a:moveTo>
                  <a:pt x="0" y="0"/>
                </a:moveTo>
                <a:lnTo>
                  <a:pt x="876796" y="0"/>
                </a:lnTo>
                <a:lnTo>
                  <a:pt x="876796" y="851289"/>
                </a:lnTo>
                <a:lnTo>
                  <a:pt x="0" y="8512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a064e78398_0_6"/>
          <p:cNvSpPr/>
          <p:nvPr/>
        </p:nvSpPr>
        <p:spPr>
          <a:xfrm>
            <a:off x="-2152629" y="5275610"/>
            <a:ext cx="9610987" cy="1083420"/>
          </a:xfrm>
          <a:custGeom>
            <a:rect b="b" l="l" r="r" t="t"/>
            <a:pathLst>
              <a:path extrusionOk="0" h="1083420" w="9610987">
                <a:moveTo>
                  <a:pt x="0" y="0"/>
                </a:moveTo>
                <a:lnTo>
                  <a:pt x="9610986" y="0"/>
                </a:lnTo>
                <a:lnTo>
                  <a:pt x="9610986" y="1083420"/>
                </a:lnTo>
                <a:lnTo>
                  <a:pt x="0" y="1083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g3a064e78398_0_6"/>
          <p:cNvSpPr/>
          <p:nvPr/>
        </p:nvSpPr>
        <p:spPr>
          <a:xfrm>
            <a:off x="1441067" y="5397466"/>
            <a:ext cx="789326" cy="839708"/>
          </a:xfrm>
          <a:custGeom>
            <a:rect b="b" l="l" r="r" t="t"/>
            <a:pathLst>
              <a:path extrusionOk="0" h="839708" w="789326">
                <a:moveTo>
                  <a:pt x="0" y="0"/>
                </a:moveTo>
                <a:lnTo>
                  <a:pt x="789326" y="0"/>
                </a:lnTo>
                <a:lnTo>
                  <a:pt x="789326" y="839709"/>
                </a:lnTo>
                <a:lnTo>
                  <a:pt x="0" y="839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g3a064e78398_0_6"/>
          <p:cNvSpPr/>
          <p:nvPr/>
        </p:nvSpPr>
        <p:spPr>
          <a:xfrm rot="6304748">
            <a:off x="-1789897" y="-3479660"/>
            <a:ext cx="4749915" cy="4749915"/>
          </a:xfrm>
          <a:custGeom>
            <a:rect b="b" l="l" r="r" t="t"/>
            <a:pathLst>
              <a:path extrusionOk="0" h="4752708" w="4752708">
                <a:moveTo>
                  <a:pt x="0" y="0"/>
                </a:moveTo>
                <a:lnTo>
                  <a:pt x="4752708" y="0"/>
                </a:lnTo>
                <a:lnTo>
                  <a:pt x="4752708" y="4752708"/>
                </a:lnTo>
                <a:lnTo>
                  <a:pt x="0" y="47527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g3a064e78398_0_6"/>
          <p:cNvSpPr/>
          <p:nvPr/>
        </p:nvSpPr>
        <p:spPr>
          <a:xfrm>
            <a:off x="-720668" y="8102130"/>
            <a:ext cx="9610987" cy="1083420"/>
          </a:xfrm>
          <a:custGeom>
            <a:rect b="b" l="l" r="r" t="t"/>
            <a:pathLst>
              <a:path extrusionOk="0" h="1083420" w="9610987">
                <a:moveTo>
                  <a:pt x="0" y="0"/>
                </a:moveTo>
                <a:lnTo>
                  <a:pt x="9610987" y="0"/>
                </a:lnTo>
                <a:lnTo>
                  <a:pt x="9610987" y="1083421"/>
                </a:lnTo>
                <a:lnTo>
                  <a:pt x="0" y="1083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g3a064e78398_0_6"/>
          <p:cNvSpPr/>
          <p:nvPr/>
        </p:nvSpPr>
        <p:spPr>
          <a:xfrm>
            <a:off x="2521544" y="8239478"/>
            <a:ext cx="1385397" cy="808726"/>
          </a:xfrm>
          <a:custGeom>
            <a:rect b="b" l="l" r="r" t="t"/>
            <a:pathLst>
              <a:path extrusionOk="0" h="808726" w="1385397">
                <a:moveTo>
                  <a:pt x="0" y="0"/>
                </a:moveTo>
                <a:lnTo>
                  <a:pt x="1385398" y="0"/>
                </a:lnTo>
                <a:lnTo>
                  <a:pt x="1385398" y="808726"/>
                </a:lnTo>
                <a:lnTo>
                  <a:pt x="0" y="808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g3a064e78398_0_6"/>
          <p:cNvSpPr txBox="1"/>
          <p:nvPr/>
        </p:nvSpPr>
        <p:spPr>
          <a:xfrm>
            <a:off x="2664975" y="815575"/>
            <a:ext cx="10038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METODOLOGIA DE TRABALHO</a:t>
            </a:r>
            <a:endParaRPr b="1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a064e78398_0_6"/>
          <p:cNvSpPr txBox="1"/>
          <p:nvPr/>
        </p:nvSpPr>
        <p:spPr>
          <a:xfrm>
            <a:off x="1741746" y="3163197"/>
            <a:ext cx="36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MEIOS/FERRAMENTAS: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a064e78398_0_6"/>
          <p:cNvSpPr txBox="1"/>
          <p:nvPr/>
        </p:nvSpPr>
        <p:spPr>
          <a:xfrm>
            <a:off x="2652864" y="5452076"/>
            <a:ext cx="3812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ACOMPANHAMENTO DO PROGRESSO: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a064e78398_0_6"/>
          <p:cNvSpPr txBox="1"/>
          <p:nvPr/>
        </p:nvSpPr>
        <p:spPr>
          <a:xfrm>
            <a:off x="6587176" y="2845490"/>
            <a:ext cx="6504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 de tarefas: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Trello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Documentação:</a:t>
            </a: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Google Drive / Documentos colaborativos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a064e78398_0_6"/>
          <p:cNvSpPr txBox="1"/>
          <p:nvPr/>
        </p:nvSpPr>
        <p:spPr>
          <a:xfrm>
            <a:off x="7871476" y="5738557"/>
            <a:ext cx="5220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Kanban para controle de atividades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a064e78398_0_6"/>
          <p:cNvSpPr txBox="1"/>
          <p:nvPr/>
        </p:nvSpPr>
        <p:spPr>
          <a:xfrm>
            <a:off x="4390780" y="8432386"/>
            <a:ext cx="381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COMUNICAÇÃO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a064e78398_0_6"/>
          <p:cNvSpPr txBox="1"/>
          <p:nvPr/>
        </p:nvSpPr>
        <p:spPr>
          <a:xfrm>
            <a:off x="9061350" y="8239475"/>
            <a:ext cx="55092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Assíncrona via Whatsapp</a:t>
            </a:r>
            <a:endParaRPr sz="2000">
              <a:solidFill>
                <a:srgbClr val="FFFFFF"/>
              </a:solidFill>
            </a:endParaRPr>
          </a:p>
          <a:p>
            <a:pPr indent="-355600" lvl="0" marL="457200" marR="0" rtl="0" algn="just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-"/>
            </a:pPr>
            <a:r>
              <a:rPr lang="en-US" sz="2000">
                <a:solidFill>
                  <a:srgbClr val="FFFFFF"/>
                </a:solidFill>
              </a:rPr>
              <a:t>Reunião via </a:t>
            </a:r>
            <a:r>
              <a:rPr b="1" lang="en-US" sz="2000">
                <a:solidFill>
                  <a:srgbClr val="FFFFFF"/>
                </a:solidFill>
              </a:rPr>
              <a:t>google meet </a:t>
            </a:r>
            <a:r>
              <a:rPr lang="en-US" sz="2000">
                <a:solidFill>
                  <a:srgbClr val="FFFFFF"/>
                </a:solidFill>
              </a:rPr>
              <a:t>quando </a:t>
            </a:r>
            <a:endParaRPr sz="2000">
              <a:solidFill>
                <a:srgbClr val="FFFFFF"/>
              </a:solidFill>
            </a:endParaRPr>
          </a:p>
          <a:p>
            <a:pPr indent="457200" lvl="0" marL="0" marR="0" rtl="0" algn="just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necessário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/>
          <p:nvPr/>
        </p:nvSpPr>
        <p:spPr>
          <a:xfrm flipH="1">
            <a:off x="-1874520" y="0"/>
            <a:ext cx="20162520" cy="1183005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303" name="Google Shape;303;p8"/>
          <p:cNvSpPr/>
          <p:nvPr/>
        </p:nvSpPr>
        <p:spPr>
          <a:xfrm>
            <a:off x="0" y="-1444908"/>
            <a:ext cx="18288000" cy="3729606"/>
          </a:xfrm>
          <a:custGeom>
            <a:rect b="b" l="l" r="r" t="t"/>
            <a:pathLst>
              <a:path extrusionOk="0" h="3729606" w="18288000">
                <a:moveTo>
                  <a:pt x="0" y="0"/>
                </a:moveTo>
                <a:lnTo>
                  <a:pt x="18288000" y="0"/>
                </a:lnTo>
                <a:lnTo>
                  <a:pt x="18288000" y="3729606"/>
                </a:lnTo>
                <a:lnTo>
                  <a:pt x="0" y="3729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7234" l="0" r="0" t="-7923"/>
            </a:stretch>
          </a:blipFill>
          <a:ln>
            <a:noFill/>
          </a:ln>
        </p:spPr>
      </p:sp>
      <p:sp>
        <p:nvSpPr>
          <p:cNvPr id="304" name="Google Shape;304;p8"/>
          <p:cNvSpPr txBox="1"/>
          <p:nvPr/>
        </p:nvSpPr>
        <p:spPr>
          <a:xfrm>
            <a:off x="5745193" y="468313"/>
            <a:ext cx="6797613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 DO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6963158" y="3198159"/>
            <a:ext cx="436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E82EE"/>
                </a:solidFill>
                <a:latin typeface="Arial"/>
                <a:ea typeface="Arial"/>
                <a:cs typeface="Arial"/>
                <a:sym typeface="Arial"/>
              </a:rPr>
              <a:t>Planejado X Realizado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12385200" y="4720125"/>
            <a:ext cx="54171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Nessa entrega, conseguimos fazer </a:t>
            </a:r>
            <a:r>
              <a:rPr b="1" lang="en-US" sz="2199">
                <a:solidFill>
                  <a:srgbClr val="FFFFFF"/>
                </a:solidFill>
              </a:rPr>
              <a:t>a ideação da padronização do catálogo, ideação da migração dos dados e reunião com o cliente para validação e apresentação das propostas.</a:t>
            </a:r>
            <a:endParaRPr b="1" sz="2199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1" sz="2199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1" lang="en-US" sz="2199">
                <a:solidFill>
                  <a:srgbClr val="FFFFFF"/>
                </a:solidFill>
              </a:rPr>
              <a:t>Até o momento, entregamos tudo o que estava no escopo, sem pendências para a entrega final.</a:t>
            </a:r>
            <a:endParaRPr b="1" sz="2199">
              <a:solidFill>
                <a:srgbClr val="FFFFFF"/>
              </a:solidFill>
            </a:endParaRPr>
          </a:p>
        </p:txBody>
      </p:sp>
      <p:pic>
        <p:nvPicPr>
          <p:cNvPr id="307" name="Google Shape;30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" y="2890650"/>
            <a:ext cx="6561600" cy="794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069862c0a_0_0"/>
          <p:cNvSpPr/>
          <p:nvPr/>
        </p:nvSpPr>
        <p:spPr>
          <a:xfrm flipH="1">
            <a:off x="-1965960" y="468325"/>
            <a:ext cx="2025396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4" l="0" r="0" t="-38884"/>
            </a:stretch>
          </a:blipFill>
          <a:ln>
            <a:noFill/>
          </a:ln>
        </p:spPr>
      </p:sp>
      <p:sp>
        <p:nvSpPr>
          <p:cNvPr id="313" name="Google Shape;313;g3a069862c0a_0_0"/>
          <p:cNvSpPr/>
          <p:nvPr/>
        </p:nvSpPr>
        <p:spPr>
          <a:xfrm>
            <a:off x="0" y="-1444908"/>
            <a:ext cx="18288000" cy="3729606"/>
          </a:xfrm>
          <a:custGeom>
            <a:rect b="b" l="l" r="r" t="t"/>
            <a:pathLst>
              <a:path extrusionOk="0" h="3729606" w="18288000">
                <a:moveTo>
                  <a:pt x="0" y="0"/>
                </a:moveTo>
                <a:lnTo>
                  <a:pt x="18288000" y="0"/>
                </a:lnTo>
                <a:lnTo>
                  <a:pt x="18288000" y="3729606"/>
                </a:lnTo>
                <a:lnTo>
                  <a:pt x="0" y="3729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7223" l="0" r="0" t="-7923"/>
            </a:stretch>
          </a:blipFill>
          <a:ln>
            <a:noFill/>
          </a:ln>
        </p:spPr>
      </p:sp>
      <p:sp>
        <p:nvSpPr>
          <p:cNvPr id="314" name="Google Shape;314;g3a069862c0a_0_0"/>
          <p:cNvSpPr txBox="1"/>
          <p:nvPr/>
        </p:nvSpPr>
        <p:spPr>
          <a:xfrm>
            <a:off x="5745193" y="468313"/>
            <a:ext cx="6797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 DO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a069862c0a_0_0"/>
          <p:cNvSpPr txBox="1"/>
          <p:nvPr/>
        </p:nvSpPr>
        <p:spPr>
          <a:xfrm>
            <a:off x="2354958" y="2723607"/>
            <a:ext cx="329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E82EE"/>
                </a:solidFill>
                <a:latin typeface="Arial"/>
                <a:ea typeface="Arial"/>
                <a:cs typeface="Arial"/>
                <a:sym typeface="Arial"/>
              </a:rPr>
              <a:t>O que deu certo: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a069862c0a_0_0"/>
          <p:cNvSpPr txBox="1"/>
          <p:nvPr/>
        </p:nvSpPr>
        <p:spPr>
          <a:xfrm>
            <a:off x="3102924" y="3364932"/>
            <a:ext cx="9439800" cy="1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●"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Comunicação assíncrona</a:t>
            </a:r>
            <a:endParaRPr b="1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236" lvl="0" marL="4572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Font typeface="Arial"/>
              <a:buChar char="●"/>
            </a:pPr>
            <a:r>
              <a:rPr b="1" i="0" lang="en-US" sz="2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do Trello/Kanban</a:t>
            </a:r>
            <a:endParaRPr b="1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236" lvl="0" marL="4572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Char char="●"/>
            </a:pPr>
            <a:r>
              <a:rPr b="1" lang="en-US" sz="2199">
                <a:solidFill>
                  <a:srgbClr val="FFFFFF"/>
                </a:solidFill>
              </a:rPr>
              <a:t>Transcrição e gravação das reuniões</a:t>
            </a:r>
            <a:endParaRPr b="1" sz="2199">
              <a:solidFill>
                <a:srgbClr val="FFFFFF"/>
              </a:solidFill>
            </a:endParaRPr>
          </a:p>
          <a:p>
            <a:pPr indent="-368236" lvl="0" marL="4572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9"/>
              <a:buChar char="●"/>
            </a:pPr>
            <a:r>
              <a:rPr b="1" lang="en-US" sz="2199">
                <a:solidFill>
                  <a:srgbClr val="FFFFFF"/>
                </a:solidFill>
              </a:rPr>
              <a:t>Validação com o cliente</a:t>
            </a:r>
            <a:endParaRPr b="1" sz="2199">
              <a:solidFill>
                <a:srgbClr val="FFFFFF"/>
              </a:solidFill>
            </a:endParaRPr>
          </a:p>
        </p:txBody>
      </p:sp>
      <p:sp>
        <p:nvSpPr>
          <p:cNvPr id="317" name="Google Shape;317;g3a069862c0a_0_0"/>
          <p:cNvSpPr txBox="1"/>
          <p:nvPr/>
        </p:nvSpPr>
        <p:spPr>
          <a:xfrm>
            <a:off x="2354958" y="5678215"/>
            <a:ext cx="46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EE82EE"/>
                </a:solidFill>
                <a:latin typeface="Arial"/>
                <a:ea typeface="Arial"/>
                <a:cs typeface="Arial"/>
                <a:sym typeface="Arial"/>
              </a:rPr>
              <a:t>O que precisa melhorar: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a069862c0a_0_0"/>
          <p:cNvSpPr txBox="1"/>
          <p:nvPr/>
        </p:nvSpPr>
        <p:spPr>
          <a:xfrm>
            <a:off x="3102925" y="6372500"/>
            <a:ext cx="98913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99"/>
              <a:buFont typeface="Arial"/>
              <a:buChar char="●"/>
            </a:pPr>
            <a:r>
              <a:rPr b="1" i="0" lang="en-US" sz="21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Frequência de alinhamentos sobre o que precisa/está sendo feito</a:t>
            </a:r>
            <a:endParaRPr b="1" i="0" sz="21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1" i="0" sz="21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 flipH="1">
            <a:off x="-2971800" y="-720800"/>
            <a:ext cx="21259800" cy="1100709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0" l="0" r="0" t="-38884"/>
            </a:stretch>
          </a:blipFill>
          <a:ln>
            <a:noFill/>
          </a:ln>
        </p:spPr>
      </p:sp>
      <p:sp>
        <p:nvSpPr>
          <p:cNvPr id="324" name="Google Shape;324;p10"/>
          <p:cNvSpPr/>
          <p:nvPr/>
        </p:nvSpPr>
        <p:spPr>
          <a:xfrm>
            <a:off x="-1235675" y="-720800"/>
            <a:ext cx="9479942" cy="9435540"/>
          </a:xfrm>
          <a:custGeom>
            <a:rect b="b" l="l" r="r" t="t"/>
            <a:pathLst>
              <a:path extrusionOk="0" h="8880508" w="8880508">
                <a:moveTo>
                  <a:pt x="0" y="0"/>
                </a:moveTo>
                <a:lnTo>
                  <a:pt x="8880507" y="0"/>
                </a:lnTo>
                <a:lnTo>
                  <a:pt x="8880507" y="8880508"/>
                </a:lnTo>
                <a:lnTo>
                  <a:pt x="0" y="8880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5" name="Google Shape;325;p10"/>
          <p:cNvGrpSpPr/>
          <p:nvPr/>
        </p:nvGrpSpPr>
        <p:grpSpPr>
          <a:xfrm>
            <a:off x="3188607" y="4098176"/>
            <a:ext cx="3145217" cy="3608573"/>
            <a:chOff x="0" y="-47625"/>
            <a:chExt cx="862412" cy="989463"/>
          </a:xfrm>
        </p:grpSpPr>
        <p:sp>
          <p:nvSpPr>
            <p:cNvPr id="326" name="Google Shape;326;p10"/>
            <p:cNvSpPr/>
            <p:nvPr/>
          </p:nvSpPr>
          <p:spPr>
            <a:xfrm>
              <a:off x="0" y="0"/>
              <a:ext cx="862412" cy="941838"/>
            </a:xfrm>
            <a:custGeom>
              <a:rect b="b" l="l" r="r" t="t"/>
              <a:pathLst>
                <a:path extrusionOk="0" h="941838" w="862412">
                  <a:moveTo>
                    <a:pt x="0" y="0"/>
                  </a:moveTo>
                  <a:lnTo>
                    <a:pt x="862412" y="0"/>
                  </a:lnTo>
                  <a:lnTo>
                    <a:pt x="862412" y="941838"/>
                  </a:lnTo>
                  <a:lnTo>
                    <a:pt x="0" y="9418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7" name="Google Shape;327;p10"/>
            <p:cNvSpPr txBox="1"/>
            <p:nvPr/>
          </p:nvSpPr>
          <p:spPr>
            <a:xfrm>
              <a:off x="0" y="-47625"/>
              <a:ext cx="862412" cy="989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0"/>
          <p:cNvGrpSpPr/>
          <p:nvPr/>
        </p:nvGrpSpPr>
        <p:grpSpPr>
          <a:xfrm>
            <a:off x="7527173" y="4098176"/>
            <a:ext cx="3145217" cy="3608573"/>
            <a:chOff x="0" y="-47625"/>
            <a:chExt cx="862412" cy="989463"/>
          </a:xfrm>
        </p:grpSpPr>
        <p:sp>
          <p:nvSpPr>
            <p:cNvPr id="329" name="Google Shape;329;p10"/>
            <p:cNvSpPr/>
            <p:nvPr/>
          </p:nvSpPr>
          <p:spPr>
            <a:xfrm>
              <a:off x="0" y="0"/>
              <a:ext cx="862412" cy="941838"/>
            </a:xfrm>
            <a:custGeom>
              <a:rect b="b" l="l" r="r" t="t"/>
              <a:pathLst>
                <a:path extrusionOk="0" h="941838" w="862412">
                  <a:moveTo>
                    <a:pt x="0" y="0"/>
                  </a:moveTo>
                  <a:lnTo>
                    <a:pt x="862412" y="0"/>
                  </a:lnTo>
                  <a:lnTo>
                    <a:pt x="862412" y="941838"/>
                  </a:lnTo>
                  <a:lnTo>
                    <a:pt x="0" y="9418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0" name="Google Shape;330;p10"/>
            <p:cNvSpPr txBox="1"/>
            <p:nvPr/>
          </p:nvSpPr>
          <p:spPr>
            <a:xfrm>
              <a:off x="0" y="-47625"/>
              <a:ext cx="862412" cy="989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0"/>
          <p:cNvGrpSpPr/>
          <p:nvPr/>
        </p:nvGrpSpPr>
        <p:grpSpPr>
          <a:xfrm>
            <a:off x="11882065" y="4107074"/>
            <a:ext cx="3145217" cy="3608573"/>
            <a:chOff x="0" y="-47625"/>
            <a:chExt cx="862412" cy="989463"/>
          </a:xfrm>
        </p:grpSpPr>
        <p:sp>
          <p:nvSpPr>
            <p:cNvPr id="332" name="Google Shape;332;p10"/>
            <p:cNvSpPr/>
            <p:nvPr/>
          </p:nvSpPr>
          <p:spPr>
            <a:xfrm>
              <a:off x="0" y="0"/>
              <a:ext cx="862412" cy="941838"/>
            </a:xfrm>
            <a:custGeom>
              <a:rect b="b" l="l" r="r" t="t"/>
              <a:pathLst>
                <a:path extrusionOk="0" h="941838" w="862412">
                  <a:moveTo>
                    <a:pt x="0" y="0"/>
                  </a:moveTo>
                  <a:lnTo>
                    <a:pt x="862412" y="0"/>
                  </a:lnTo>
                  <a:lnTo>
                    <a:pt x="862412" y="941838"/>
                  </a:lnTo>
                  <a:lnTo>
                    <a:pt x="0" y="9418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3" name="Google Shape;333;p10"/>
            <p:cNvSpPr txBox="1"/>
            <p:nvPr/>
          </p:nvSpPr>
          <p:spPr>
            <a:xfrm>
              <a:off x="0" y="-47625"/>
              <a:ext cx="862412" cy="989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0"/>
          <p:cNvSpPr txBox="1"/>
          <p:nvPr/>
        </p:nvSpPr>
        <p:spPr>
          <a:xfrm>
            <a:off x="3736771" y="5989307"/>
            <a:ext cx="200922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Yasmim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1338685" y="8030085"/>
            <a:ext cx="3145217" cy="333081"/>
          </a:xfrm>
          <a:custGeom>
            <a:rect b="b" l="l" r="r" t="t"/>
            <a:pathLst>
              <a:path extrusionOk="0" h="333081" w="3145217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86487"/>
            </a:stretch>
          </a:blipFill>
          <a:ln>
            <a:noFill/>
          </a:ln>
        </p:spPr>
      </p:sp>
      <p:sp>
        <p:nvSpPr>
          <p:cNvPr id="336" name="Google Shape;336;p10"/>
          <p:cNvSpPr/>
          <p:nvPr/>
        </p:nvSpPr>
        <p:spPr>
          <a:xfrm>
            <a:off x="12543212" y="8363166"/>
            <a:ext cx="4618008" cy="4618008"/>
          </a:xfrm>
          <a:custGeom>
            <a:rect b="b" l="l" r="r" t="t"/>
            <a:pathLst>
              <a:path extrusionOk="0" h="4618008" w="4618008">
                <a:moveTo>
                  <a:pt x="0" y="0"/>
                </a:moveTo>
                <a:lnTo>
                  <a:pt x="4618008" y="0"/>
                </a:lnTo>
                <a:lnTo>
                  <a:pt x="4618008" y="4618008"/>
                </a:lnTo>
                <a:lnTo>
                  <a:pt x="0" y="4618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10"/>
          <p:cNvSpPr/>
          <p:nvPr/>
        </p:nvSpPr>
        <p:spPr>
          <a:xfrm>
            <a:off x="14651822" y="7473446"/>
            <a:ext cx="6214132" cy="6214132"/>
          </a:xfrm>
          <a:custGeom>
            <a:rect b="b" l="l" r="r" t="t"/>
            <a:pathLst>
              <a:path extrusionOk="0" h="6214132" w="6214132">
                <a:moveTo>
                  <a:pt x="0" y="0"/>
                </a:moveTo>
                <a:lnTo>
                  <a:pt x="6214132" y="0"/>
                </a:lnTo>
                <a:lnTo>
                  <a:pt x="6214132" y="6214132"/>
                </a:lnTo>
                <a:lnTo>
                  <a:pt x="0" y="62141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0"/>
          <p:cNvSpPr/>
          <p:nvPr/>
        </p:nvSpPr>
        <p:spPr>
          <a:xfrm>
            <a:off x="4064854" y="1028700"/>
            <a:ext cx="1392724" cy="1773143"/>
          </a:xfrm>
          <a:custGeom>
            <a:rect b="b" l="l" r="r" t="t"/>
            <a:pathLst>
              <a:path extrusionOk="0" h="1773143" w="1392724">
                <a:moveTo>
                  <a:pt x="0" y="0"/>
                </a:moveTo>
                <a:lnTo>
                  <a:pt x="1392724" y="0"/>
                </a:lnTo>
                <a:lnTo>
                  <a:pt x="1392724" y="1773143"/>
                </a:lnTo>
                <a:lnTo>
                  <a:pt x="0" y="1773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0"/>
          <p:cNvSpPr txBox="1"/>
          <p:nvPr/>
        </p:nvSpPr>
        <p:spPr>
          <a:xfrm>
            <a:off x="5665143" y="1140799"/>
            <a:ext cx="6957713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MEMBROS DA EQUIPE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3406076" y="4759955"/>
            <a:ext cx="271028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Sara Nicoly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3557780" y="5282614"/>
            <a:ext cx="24068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Gerente de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4202662" y="6875132"/>
            <a:ext cx="10774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16640929" y="6525371"/>
            <a:ext cx="616771" cy="616771"/>
          </a:xfrm>
          <a:custGeom>
            <a:rect b="b" l="l" r="r" t="t"/>
            <a:pathLst>
              <a:path extrusionOk="0" h="616771" w="616771">
                <a:moveTo>
                  <a:pt x="0" y="0"/>
                </a:moveTo>
                <a:lnTo>
                  <a:pt x="616771" y="0"/>
                </a:lnTo>
                <a:lnTo>
                  <a:pt x="616771" y="616770"/>
                </a:lnTo>
                <a:lnTo>
                  <a:pt x="0" y="6167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0"/>
          <p:cNvSpPr txBox="1"/>
          <p:nvPr/>
        </p:nvSpPr>
        <p:spPr>
          <a:xfrm>
            <a:off x="7741374" y="4578980"/>
            <a:ext cx="280525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Rafael Henrique Ayres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8139386" y="5989307"/>
            <a:ext cx="200922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Rafael Nóbrega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12449998" y="5549330"/>
            <a:ext cx="200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 Beatriz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8561060" y="5512743"/>
            <a:ext cx="10774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8605278" y="6875132"/>
            <a:ext cx="10774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2915907" y="6058739"/>
            <a:ext cx="107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